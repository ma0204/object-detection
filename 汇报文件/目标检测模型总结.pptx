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60" r:id="rId5"/>
    <p:sldId id="264" r:id="rId6"/>
    <p:sldId id="263" r:id="rId7"/>
    <p:sldId id="267" r:id="rId8"/>
    <p:sldId id="265" r:id="rId9"/>
    <p:sldId id="268" r:id="rId10"/>
    <p:sldId id="266" r:id="rId11"/>
    <p:sldId id="269" r:id="rId12"/>
    <p:sldId id="272" r:id="rId13"/>
    <p:sldId id="270" r:id="rId14"/>
    <p:sldId id="273" r:id="rId15"/>
    <p:sldId id="271" r:id="rId16"/>
    <p:sldId id="274" r:id="rId17"/>
    <p:sldId id="277" r:id="rId18"/>
    <p:sldId id="276" r:id="rId19"/>
    <p:sldId id="275" r:id="rId20"/>
    <p:sldId id="278"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0" Type="http://schemas.openxmlformats.org/officeDocument/2006/relationships/tags" Target="../tags/tag54.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solidFill>
          <a:schemeClr val="bg2"/>
        </a:solidFill>
        <a:effectLst/>
      </p:bgPr>
    </p:bg>
    <p:spTree>
      <p:nvGrpSpPr>
        <p:cNvPr id="1" name=""/>
        <p:cNvGrpSpPr/>
        <p:nvPr/>
      </p:nvGrpSpPr>
      <p:grpSpPr>
        <a:xfrm>
          <a:off x="0" y="0"/>
          <a:ext cx="0" cy="0"/>
          <a:chOff x="0" y="0"/>
          <a:chExt cx="0" cy="0"/>
        </a:xfrm>
      </p:grpSpPr>
      <p:sp>
        <p:nvSpPr>
          <p:cNvPr id="15" name="任意多边形 14"/>
          <p:cNvSpPr/>
          <p:nvPr>
            <p:custDataLst>
              <p:tags r:id="rId2"/>
            </p:custDataLst>
          </p:nvPr>
        </p:nvSpPr>
        <p:spPr>
          <a:xfrm>
            <a:off x="-14605" y="0"/>
            <a:ext cx="6006465" cy="6858000"/>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12" name="任意多边形 11"/>
          <p:cNvSpPr/>
          <p:nvPr>
            <p:custDataLst>
              <p:tags r:id="rId3"/>
            </p:custDataLst>
          </p:nvPr>
        </p:nvSpPr>
        <p:spPr>
          <a:xfrm rot="16200000">
            <a:off x="-1383662" y="1369058"/>
            <a:ext cx="6857999"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cs typeface="MiSans Normal" panose="00000500000000000000" charset="-122"/>
            </a:endParaRPr>
          </a:p>
        </p:txBody>
      </p:sp>
      <p:sp>
        <p:nvSpPr>
          <p:cNvPr id="11" name="任意多边形 10"/>
          <p:cNvSpPr/>
          <p:nvPr>
            <p:custDataLst>
              <p:tags r:id="rId4"/>
            </p:custDataLst>
          </p:nvPr>
        </p:nvSpPr>
        <p:spPr>
          <a:xfrm rot="16200000">
            <a:off x="-1331245" y="2313346"/>
            <a:ext cx="4864351" cy="223107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5" name="圆角矩形 24"/>
          <p:cNvSpPr/>
          <p:nvPr>
            <p:custDataLst>
              <p:tags r:id="rId5"/>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10" name="直接连接符 9"/>
          <p:cNvCxnSpPr/>
          <p:nvPr>
            <p:custDataLst>
              <p:tags r:id="rId6"/>
            </p:custDataLst>
          </p:nvPr>
        </p:nvCxnSpPr>
        <p:spPr>
          <a:xfrm>
            <a:off x="11197590" y="300291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7"/>
            </p:custDataLst>
          </p:nvPr>
        </p:nvCxnSpPr>
        <p:spPr>
          <a:xfrm>
            <a:off x="11305540" y="193421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11305540" y="347662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custDataLst>
              <p:tags r:id="rId9"/>
            </p:custDataLst>
          </p:nvPr>
        </p:nvSpPr>
        <p:spPr>
          <a:xfrm>
            <a:off x="10027285" y="4343400"/>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21" name="椭圆 20"/>
          <p:cNvSpPr/>
          <p:nvPr>
            <p:custDataLst>
              <p:tags r:id="rId10"/>
            </p:custDataLst>
          </p:nvPr>
        </p:nvSpPr>
        <p:spPr>
          <a:xfrm>
            <a:off x="10133965" y="4450080"/>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lnSpcReduction="20000"/>
          </a:bodyPr>
          <a:lstStyle/>
          <a:p>
            <a:pPr algn="ctr"/>
            <a:endParaRPr lang="zh-CN" altLang="en-US">
              <a:cs typeface="MiSans Normal" panose="00000500000000000000" charset="-122"/>
            </a:endParaRPr>
          </a:p>
        </p:txBody>
      </p:sp>
      <p:sp>
        <p:nvSpPr>
          <p:cNvPr id="90" name="向下箭头"/>
          <p:cNvSpPr/>
          <p:nvPr>
            <p:custDataLst>
              <p:tags r:id="rId11"/>
            </p:custDataLst>
          </p:nvPr>
        </p:nvSpPr>
        <p:spPr>
          <a:xfrm>
            <a:off x="10238105" y="4542790"/>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4" name="任意多边形 13"/>
          <p:cNvSpPr/>
          <p:nvPr>
            <p:custDataLst>
              <p:tags r:id="rId12"/>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3"/>
            </p:custDataLst>
          </p:nvPr>
        </p:nvSpPr>
        <p:spPr>
          <a:xfrm>
            <a:off x="2273300" y="1901190"/>
            <a:ext cx="8413750" cy="170942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zh-CN" altLang="en-US" sz="7200" b="0" i="0" u="none" strike="noStrike" kern="1200" cap="none" spc="0" normalizeH="0" baseline="0" noProof="1" dirty="0">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dirty="0">
                <a:sym typeface="+mn-ea"/>
              </a:rPr>
              <a:t>单击此处编辑标题</a:t>
            </a:r>
            <a:endParaRPr dirty="0">
              <a:sym typeface="+mn-ea"/>
            </a:endParaRPr>
          </a:p>
        </p:txBody>
      </p:sp>
      <p:sp>
        <p:nvSpPr>
          <p:cNvPr id="4" name="日期占位符 3"/>
          <p:cNvSpPr>
            <a:spLocks noGrp="1"/>
          </p:cNvSpPr>
          <p:nvPr>
            <p:ph type="dt" sz="half" idx="10"/>
            <p:custDataLst>
              <p:tags r:id="rId1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8" name="署名占位符 10"/>
          <p:cNvSpPr>
            <a:spLocks noGrp="1"/>
          </p:cNvSpPr>
          <p:nvPr>
            <p:ph type="body" sz="quarter" idx="17" hasCustomPrompt="1"/>
            <p:custDataLst>
              <p:tags r:id="rId17"/>
            </p:custDataLst>
          </p:nvPr>
        </p:nvSpPr>
        <p:spPr>
          <a:xfrm>
            <a:off x="2273299" y="4275976"/>
            <a:ext cx="7589519"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8" name="正文"/>
          <p:cNvSpPr txBox="1">
            <a:spLocks noGrp="1"/>
          </p:cNvSpPr>
          <p:nvPr>
            <p:ph idx="3"/>
            <p:custDataLst>
              <p:tags r:id="rId2"/>
            </p:custDataLst>
          </p:nvPr>
        </p:nvSpPr>
        <p:spPr>
          <a:xfrm>
            <a:off x="695960" y="1245235"/>
            <a:ext cx="10800080" cy="493141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a:sym typeface="+mn-ea"/>
              </a:rPr>
              <a:t>单击此处编辑母版文本样式</a:t>
            </a:r>
            <a:endParaRPr>
              <a:sym typeface="+mn-ea"/>
            </a:endParaRPr>
          </a:p>
          <a:p>
            <a:pPr lvl="1">
              <a:spcBef>
                <a:spcPts val="1200"/>
              </a:spcBef>
              <a:spcAft>
                <a:spcPts val="0"/>
              </a:spcAft>
            </a:pPr>
            <a:r>
              <a:rPr>
                <a:sym typeface="+mn-ea"/>
              </a:rPr>
              <a:t>第二级</a:t>
            </a:r>
            <a:endParaRPr>
              <a:sym typeface="+mn-ea"/>
            </a:endParaRPr>
          </a:p>
          <a:p>
            <a:pPr lvl="2">
              <a:spcBef>
                <a:spcPts val="1200"/>
              </a:spcBef>
              <a:spcAft>
                <a:spcPts val="0"/>
              </a:spcAft>
            </a:pPr>
            <a:r>
              <a:rPr>
                <a:sym typeface="+mn-ea"/>
              </a:rPr>
              <a:t>第三级</a:t>
            </a:r>
            <a:endParaRPr>
              <a:sym typeface="+mn-ea"/>
            </a:endParaRPr>
          </a:p>
          <a:p>
            <a:pPr lvl="3">
              <a:spcBef>
                <a:spcPts val="1200"/>
              </a:spcBef>
              <a:spcAft>
                <a:spcPts val="0"/>
              </a:spcAft>
            </a:pPr>
            <a:r>
              <a:rPr>
                <a:sym typeface="+mn-ea"/>
              </a:rPr>
              <a:t>第四级</a:t>
            </a:r>
            <a:endParaRPr>
              <a:sym typeface="+mn-ea"/>
            </a:endParaRPr>
          </a:p>
          <a:p>
            <a:pPr lvl="4">
              <a:spcBef>
                <a:spcPts val="1200"/>
              </a:spcBef>
              <a:spcAft>
                <a:spcPts val="0"/>
              </a:spcAft>
            </a:pPr>
            <a:r>
              <a:rPr>
                <a:sym typeface="+mn-ea"/>
              </a:rPr>
              <a:t>第五级</a:t>
            </a:r>
            <a:endParaRPr>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a:spLocks noGrp="1"/>
          </p:cNvSpPr>
          <p:nvPr>
            <p:ph type="title" idx="1"/>
            <p:custDataLst>
              <p:tags r:id="rId4"/>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sym typeface="+mn-ea"/>
              </a:defRPr>
            </a:lvl1pPr>
          </a:lstStyle>
          <a:p>
            <a:pPr lvl="0"/>
            <a:r>
              <a:rPr>
                <a:sym typeface="+mn-ea"/>
              </a:rPr>
              <a:t>单击此处编辑母版标题样式</a:t>
            </a:r>
            <a:endParaRPr>
              <a:sym typeface="+mn-ea"/>
            </a:endParaRPr>
          </a:p>
        </p:txBody>
      </p:sp>
      <p:sp>
        <p:nvSpPr>
          <p:cNvPr id="4" name="日期占位符 3"/>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cxnSp>
        <p:nvCxnSpPr>
          <p:cNvPr id="60" name="直接连接符 59"/>
          <p:cNvCxnSpPr/>
          <p:nvPr>
            <p:custDataLst>
              <p:tags r:id="rId2"/>
            </p:custDataLst>
          </p:nvPr>
        </p:nvCxnSpPr>
        <p:spPr>
          <a:xfrm>
            <a:off x="3509010" y="1475105"/>
            <a:ext cx="0" cy="4572000"/>
          </a:xfrm>
          <a:prstGeom prst="line">
            <a:avLst/>
          </a:prstGeom>
          <a:ln>
            <a:solidFill>
              <a:schemeClr val="bg2">
                <a:lumMod val="50000"/>
                <a:alpha val="2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任意多边形 7"/>
          <p:cNvSpPr/>
          <p:nvPr>
            <p:custDataLst>
              <p:tags r:id="rId3"/>
            </p:custDataLst>
          </p:nvPr>
        </p:nvSpPr>
        <p:spPr>
          <a:xfrm>
            <a:off x="-18415" y="0"/>
            <a:ext cx="2251075" cy="871855"/>
          </a:xfrm>
          <a:custGeom>
            <a:avLst/>
            <a:gdLst/>
            <a:ahLst/>
            <a:cxnLst>
              <a:cxn ang="3">
                <a:pos x="hc" y="t"/>
              </a:cxn>
              <a:cxn ang="cd2">
                <a:pos x="l" y="vc"/>
              </a:cxn>
              <a:cxn ang="cd4">
                <a:pos x="hc" y="b"/>
              </a:cxn>
              <a:cxn ang="0">
                <a:pos x="r" y="vc"/>
              </a:cxn>
            </a:cxnLst>
            <a:rect l="l" t="t" r="r" b="b"/>
            <a:pathLst>
              <a:path w="3545" h="1373">
                <a:moveTo>
                  <a:pt x="0" y="0"/>
                </a:moveTo>
                <a:lnTo>
                  <a:pt x="3545" y="0"/>
                </a:lnTo>
                <a:lnTo>
                  <a:pt x="3545" y="1023"/>
                </a:lnTo>
                <a:cubicBezTo>
                  <a:pt x="3545" y="1217"/>
                  <a:pt x="3389" y="1373"/>
                  <a:pt x="3195" y="1373"/>
                </a:cubicBezTo>
                <a:lnTo>
                  <a:pt x="9" y="1373"/>
                </a:lnTo>
                <a:lnTo>
                  <a:pt x="0" y="137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hasCustomPrompt="1"/>
            <p:custDataLst>
              <p:tags r:id="rId4"/>
            </p:custDataLst>
          </p:nvPr>
        </p:nvSpPr>
        <p:spPr>
          <a:xfrm>
            <a:off x="1166495" y="1793240"/>
            <a:ext cx="1375410" cy="3604895"/>
          </a:xfrm>
          <a:prstGeom prst="rect">
            <a:avLst/>
          </a:prstGeom>
          <a:noFill/>
        </p:spPr>
        <p:txBody>
          <a:bodyPr vert="eaVert"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chemeClr val="tx1">
                    <a:lumMod val="85000"/>
                    <a:lumOff val="15000"/>
                  </a:schemeClr>
                </a:solidFill>
                <a:latin typeface="+mj-ea"/>
                <a:ea typeface="+mj-ea"/>
                <a:cs typeface="MiSans Normal" panose="00000500000000000000" charset="-122"/>
                <a:sym typeface="+mn-ea"/>
              </a:defRPr>
            </a:lvl1pPr>
          </a:lstStyle>
          <a:p>
            <a:pPr lvl="0" algn="l">
              <a:buClrTx/>
              <a:buSzTx/>
              <a:buFontTx/>
            </a:pPr>
            <a:r>
              <a:rPr dirty="0">
                <a:sym typeface="+mn-ea"/>
              </a:rPr>
              <a:t>标题</a:t>
            </a:r>
            <a:endParaRPr dirty="0">
              <a:sym typeface="+mn-ea"/>
            </a:endParaRPr>
          </a:p>
        </p:txBody>
      </p:sp>
      <p:sp>
        <p:nvSpPr>
          <p:cNvPr id="3" name="日期占位符 2"/>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2" name="椭圆 11"/>
          <p:cNvSpPr/>
          <p:nvPr>
            <p:custDataLst>
              <p:tags r:id="rId2"/>
            </p:custDataLst>
          </p:nvPr>
        </p:nvSpPr>
        <p:spPr>
          <a:xfrm rot="16200000">
            <a:off x="977900" y="1336040"/>
            <a:ext cx="4351020" cy="4351020"/>
          </a:xfrm>
          <a:prstGeom prst="ellipse">
            <a:avLst/>
          </a:prstGeom>
          <a:solidFill>
            <a:schemeClr val="bg2"/>
          </a:solidFill>
          <a:ln>
            <a:noFill/>
          </a:ln>
          <a:effectLst>
            <a:outerShdw blurRad="495300" dist="38100" dir="2700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11" name="椭圆 10"/>
          <p:cNvSpPr/>
          <p:nvPr>
            <p:custDataLst>
              <p:tags r:id="rId3"/>
            </p:custDataLst>
          </p:nvPr>
        </p:nvSpPr>
        <p:spPr>
          <a:xfrm rot="16200000">
            <a:off x="1828800" y="2186940"/>
            <a:ext cx="2649220" cy="2649220"/>
          </a:xfrm>
          <a:prstGeom prst="ellipse">
            <a:avLst/>
          </a:pr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9" name="弧形 8"/>
          <p:cNvSpPr/>
          <p:nvPr>
            <p:custDataLst>
              <p:tags r:id="rId4"/>
            </p:custDataLst>
          </p:nvPr>
        </p:nvSpPr>
        <p:spPr>
          <a:xfrm>
            <a:off x="301625" y="659765"/>
            <a:ext cx="5703570" cy="5703570"/>
          </a:xfrm>
          <a:prstGeom prst="arc">
            <a:avLst>
              <a:gd name="adj1" fmla="val 16200000"/>
              <a:gd name="adj2" fmla="val 5319923"/>
            </a:avLst>
          </a:prstGeom>
          <a:ln>
            <a:solidFill>
              <a:schemeClr val="bg2">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iSans Normal" panose="00000500000000000000" charset="-122"/>
            </a:endParaRPr>
          </a:p>
        </p:txBody>
      </p:sp>
      <p:sp>
        <p:nvSpPr>
          <p:cNvPr id="10" name="圆角矩形 9"/>
          <p:cNvSpPr/>
          <p:nvPr>
            <p:custDataLst>
              <p:tags r:id="rId5"/>
            </p:custDataLst>
          </p:nvPr>
        </p:nvSpPr>
        <p:spPr>
          <a:xfrm rot="10800000">
            <a:off x="6876415" y="3851910"/>
            <a:ext cx="2408555" cy="1593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sp>
        <p:nvSpPr>
          <p:cNvPr id="14" name="任意多边形 13"/>
          <p:cNvSpPr/>
          <p:nvPr>
            <p:custDataLst>
              <p:tags r:id="rId6"/>
            </p:custDataLst>
          </p:nvPr>
        </p:nvSpPr>
        <p:spPr>
          <a:xfrm flipV="1">
            <a:off x="8945880" y="0"/>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节编号"/>
          <p:cNvSpPr txBox="1">
            <a:spLocks noGrp="1"/>
          </p:cNvSpPr>
          <p:nvPr>
            <p:ph type="body" idx="2" hasCustomPrompt="1"/>
            <p:custDataLst>
              <p:tags r:id="rId7"/>
            </p:custDataLst>
          </p:nvPr>
        </p:nvSpPr>
        <p:spPr>
          <a:xfrm>
            <a:off x="1828800" y="3004185"/>
            <a:ext cx="2649220" cy="1208405"/>
          </a:xfrm>
          <a:prstGeom prst="rect">
            <a:avLst/>
          </a:prstGeom>
          <a:noFill/>
        </p:spPr>
        <p:txBody>
          <a:bodyPr wrap="square" lIns="91440" tIns="45720" rIns="91440" bIns="45720" rtlCol="0" anchor="t" anchorCtr="0">
            <a:normAutofit/>
          </a:bodyPr>
          <a:lstStyle>
            <a:lvl1pPr marL="0" marR="0" lvl="0" algn="ctr" defTabSz="914400" rtl="0" eaLnBrk="1" fontAlgn="auto" latinLnBrk="0" hangingPunct="1">
              <a:lnSpc>
                <a:spcPct val="100000"/>
              </a:lnSpc>
              <a:buClrTx/>
              <a:buSzTx/>
              <a:buFontTx/>
              <a:buNone/>
              <a:defRPr kumimoji="0" lang="en-US" altLang="zh-CN" sz="6000" b="0" i="0" u="none" strike="noStrike" kern="1200" cap="none" spc="200" normalizeH="0" baseline="0" noProof="1">
                <a:solidFill>
                  <a:schemeClr val="tx1">
                    <a:lumMod val="85000"/>
                    <a:lumOff val="15000"/>
                  </a:schemeClr>
                </a:solidFill>
                <a:uFillTx/>
                <a:latin typeface="MiSans Heavy" panose="00000A00000000000000" charset="-122"/>
                <a:ea typeface="MiSans Heavy" panose="00000A00000000000000" charset="-122"/>
                <a:cs typeface="MiSans Normal" panose="00000500000000000000" charset="-122"/>
                <a:sym typeface="+mn-ea"/>
              </a:defRPr>
            </a:lvl1pPr>
          </a:lstStyle>
          <a:p>
            <a:pPr lvl="0" algn="ctr">
              <a:buClrTx/>
              <a:buSzTx/>
              <a:buFontTx/>
            </a:pPr>
            <a:r>
              <a:rPr>
                <a:sym typeface="+mn-ea"/>
              </a:rPr>
              <a:t>节编号</a:t>
            </a:r>
            <a:endParaRPr>
              <a:sym typeface="+mn-ea"/>
            </a:endParaRPr>
          </a:p>
        </p:txBody>
      </p:sp>
      <p:sp>
        <p:nvSpPr>
          <p:cNvPr id="7" name="标题"/>
          <p:cNvSpPr txBox="1">
            <a:spLocks noGrp="1"/>
          </p:cNvSpPr>
          <p:nvPr>
            <p:ph type="title" idx="1" hasCustomPrompt="1"/>
            <p:custDataLst>
              <p:tags r:id="rId8"/>
            </p:custDataLst>
          </p:nvPr>
        </p:nvSpPr>
        <p:spPr>
          <a:xfrm>
            <a:off x="6732905" y="2092325"/>
            <a:ext cx="5005070" cy="168402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00000"/>
              </a:lnSpc>
              <a:buClrTx/>
              <a:buSzTx/>
              <a:buFontTx/>
              <a:buNone/>
              <a:defRPr kumimoji="0" lang="zh-CN" altLang="en-US" sz="4800" b="0" i="0" u="none" strike="noStrike" kern="1200" cap="none" spc="200" normalizeH="0" baseline="0" noProof="1">
                <a:solidFill>
                  <a:schemeClr val="tx1">
                    <a:lumMod val="85000"/>
                    <a:lumOff val="15000"/>
                  </a:schemeClr>
                </a:solidFill>
                <a:uFillTx/>
                <a:latin typeface="+mj-ea"/>
                <a:ea typeface="+mj-ea"/>
                <a:cs typeface="MiSans Normal" panose="00000500000000000000" charset="-122"/>
                <a:sym typeface="+mn-ea"/>
              </a:defRPr>
            </a:lvl1pPr>
          </a:lstStyle>
          <a:p>
            <a:pPr lvl="0" algn="l">
              <a:buClrTx/>
              <a:buSzTx/>
              <a:buFontTx/>
            </a:pPr>
            <a:r>
              <a:rPr>
                <a:sym typeface="+mn-ea"/>
              </a:rPr>
              <a:t>单击编辑标题</a:t>
            </a:r>
            <a:endParaRPr>
              <a:sym typeface="+mn-ea"/>
            </a:endParaRPr>
          </a:p>
        </p:txBody>
      </p:sp>
      <p:sp>
        <p:nvSpPr>
          <p:cNvPr id="4" name="日期占位符 3"/>
          <p:cNvSpPr>
            <a:spLocks noGrp="1"/>
          </p:cNvSpPr>
          <p:nvPr>
            <p:ph type="dt" sz="half" idx="10"/>
            <p:custDataLst>
              <p:tags r:id="rId9"/>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1"/>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showMasterSp="0">
  <p:cSld name="标题和两栏">
    <p:spTree>
      <p:nvGrpSpPr>
        <p:cNvPr id="1" name=""/>
        <p:cNvGrpSpPr/>
        <p:nvPr/>
      </p:nvGrpSpPr>
      <p:grpSpPr>
        <a:xfrm>
          <a:off x="0" y="0"/>
          <a:ext cx="0" cy="0"/>
          <a:chOff x="0" y="0"/>
          <a:chExt cx="0" cy="0"/>
        </a:xfrm>
      </p:grpSpPr>
      <p:sp>
        <p:nvSpPr>
          <p:cNvPr id="10" name="正文"/>
          <p:cNvSpPr txBox="1">
            <a:spLocks noGrp="1"/>
          </p:cNvSpPr>
          <p:nvPr>
            <p:ph idx="4"/>
            <p:custDataLst>
              <p:tags r:id="rId2"/>
            </p:custDataLst>
          </p:nvPr>
        </p:nvSpPr>
        <p:spPr>
          <a:xfrm>
            <a:off x="6400800" y="1245235"/>
            <a:ext cx="5095240" cy="4930775"/>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9" name="正文"/>
          <p:cNvSpPr txBox="1">
            <a:spLocks noGrp="1"/>
          </p:cNvSpPr>
          <p:nvPr>
            <p:ph idx="3"/>
            <p:custDataLst>
              <p:tags r:id="rId3"/>
            </p:custDataLst>
          </p:nvPr>
        </p:nvSpPr>
        <p:spPr>
          <a:xfrm>
            <a:off x="695960" y="1245235"/>
            <a:ext cx="508889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800"/>
              </a:spcBef>
              <a:spcAft>
                <a:spcPts val="0"/>
              </a:spcAft>
            </a:pPr>
            <a:r>
              <a:rPr>
                <a:sym typeface="+mn-ea"/>
              </a:rPr>
              <a:t>单击此处编辑母版文本样式</a:t>
            </a:r>
            <a:endParaRPr>
              <a:sym typeface="+mn-ea"/>
            </a:endParaRPr>
          </a:p>
          <a:p>
            <a:pPr lvl="1">
              <a:spcBef>
                <a:spcPts val="1800"/>
              </a:spcBef>
              <a:spcAft>
                <a:spcPts val="0"/>
              </a:spcAft>
            </a:pPr>
            <a:r>
              <a:rPr>
                <a:sym typeface="+mn-ea"/>
              </a:rPr>
              <a:t>第二级</a:t>
            </a:r>
            <a:endParaRPr>
              <a:sym typeface="+mn-ea"/>
            </a:endParaRPr>
          </a:p>
          <a:p>
            <a:pPr lvl="2">
              <a:spcBef>
                <a:spcPts val="1800"/>
              </a:spcBef>
              <a:spcAft>
                <a:spcPts val="0"/>
              </a:spcAft>
            </a:pPr>
            <a:r>
              <a:rPr>
                <a:sym typeface="+mn-ea"/>
              </a:rPr>
              <a:t>第三级</a:t>
            </a:r>
            <a:endParaRPr>
              <a:sym typeface="+mn-ea"/>
            </a:endParaRPr>
          </a:p>
          <a:p>
            <a:pPr lvl="3">
              <a:spcBef>
                <a:spcPts val="1800"/>
              </a:spcBef>
              <a:spcAft>
                <a:spcPts val="0"/>
              </a:spcAft>
            </a:pPr>
            <a:r>
              <a:rPr>
                <a:sym typeface="+mn-ea"/>
              </a:rPr>
              <a:t>第四级</a:t>
            </a:r>
            <a:endParaRPr>
              <a:sym typeface="+mn-ea"/>
            </a:endParaRPr>
          </a:p>
          <a:p>
            <a:pPr lvl="4">
              <a:spcBef>
                <a:spcPts val="1800"/>
              </a:spcBef>
              <a:spcAft>
                <a:spcPts val="0"/>
              </a:spcAft>
            </a:pPr>
            <a:r>
              <a:rPr>
                <a:sym typeface="+mn-ea"/>
              </a:rPr>
              <a:t>第五级</a:t>
            </a:r>
            <a:endParaRPr>
              <a:sym typeface="+mn-ea"/>
            </a:endParaRPr>
          </a:p>
        </p:txBody>
      </p:sp>
      <p:sp>
        <p:nvSpPr>
          <p:cNvPr id="14" name="任意多边形 13"/>
          <p:cNvSpPr/>
          <p:nvPr userDrawn="1">
            <p:custDataLst>
              <p:tags r:id="rId4"/>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标题"/>
          <p:cNvSpPr>
            <a:spLocks noGrp="1"/>
          </p:cNvSpPr>
          <p:nvPr>
            <p:ph type="title" idx="1"/>
            <p:custDataLst>
              <p:tags r:id="rId5"/>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defRPr>
            </a:lvl1pPr>
          </a:lstStyle>
          <a:p>
            <a:pPr lvl="0"/>
            <a:r>
              <a:rPr>
                <a:sym typeface="+mn-ea"/>
              </a:rPr>
              <a:t>单击此处编辑母版标题样式</a:t>
            </a:r>
            <a:endParaRPr>
              <a:sym typeface="+mn-ea"/>
            </a:endParaRPr>
          </a:p>
        </p:txBody>
      </p:sp>
      <p:sp>
        <p:nvSpPr>
          <p:cNvPr id="5" name="日期占位符 4"/>
          <p:cNvSpPr>
            <a:spLocks noGrp="1"/>
          </p:cNvSpPr>
          <p:nvPr>
            <p:ph type="dt" sz="half" idx="10"/>
            <p:custDataLst>
              <p:tags r:id="rId6"/>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8"/>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showMasterSp="0">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2"/>
            </p:custDataLst>
          </p:nvPr>
        </p:nvSpPr>
        <p:spPr>
          <a:xfrm>
            <a:off x="6235065" y="1671955"/>
            <a:ext cx="5260975"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标题"/>
          <p:cNvSpPr txBox="1">
            <a:spLocks noGrp="1"/>
          </p:cNvSpPr>
          <p:nvPr>
            <p:ph type="title" idx="5"/>
            <p:custDataLst>
              <p:tags r:id="rId3"/>
            </p:custDataLst>
          </p:nvPr>
        </p:nvSpPr>
        <p:spPr>
          <a:xfrm>
            <a:off x="6235065" y="1247140"/>
            <a:ext cx="5260975"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13" name="正文"/>
          <p:cNvSpPr txBox="1">
            <a:spLocks noGrp="1"/>
          </p:cNvSpPr>
          <p:nvPr>
            <p:ph idx="4"/>
            <p:custDataLst>
              <p:tags r:id="rId4"/>
            </p:custDataLst>
          </p:nvPr>
        </p:nvSpPr>
        <p:spPr>
          <a:xfrm>
            <a:off x="695325" y="1671955"/>
            <a:ext cx="5255260"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2" name="标题"/>
          <p:cNvSpPr txBox="1">
            <a:spLocks noGrp="1"/>
          </p:cNvSpPr>
          <p:nvPr>
            <p:ph type="title" idx="3"/>
            <p:custDataLst>
              <p:tags r:id="rId5"/>
            </p:custDataLst>
          </p:nvPr>
        </p:nvSpPr>
        <p:spPr>
          <a:xfrm>
            <a:off x="695325" y="1247140"/>
            <a:ext cx="5255260"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endParaRPr>
              <a:sym typeface="+mn-ea"/>
            </a:endParaRPr>
          </a:p>
        </p:txBody>
      </p:sp>
      <p:sp>
        <p:nvSpPr>
          <p:cNvPr id="11" name="任意多边形 10"/>
          <p:cNvSpPr/>
          <p:nvPr userDrawn="1">
            <p:custDataLst>
              <p:tags r:id="rId6"/>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0" name="标题"/>
          <p:cNvSpPr txBox="1">
            <a:spLocks noGrp="1"/>
          </p:cNvSpPr>
          <p:nvPr>
            <p:ph type="title" idx="1"/>
            <p:custDataLst>
              <p:tags r:id="rId7"/>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7" name="日期占位符 6"/>
          <p:cNvSpPr>
            <a:spLocks noGrp="1"/>
          </p:cNvSpPr>
          <p:nvPr>
            <p:ph type="dt" sz="half" idx="10"/>
            <p:custDataLst>
              <p:tags r:id="rId8"/>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10"/>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p:custDataLst>
              <p:tags r:id="rId3"/>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4" name="任意多边形 13"/>
          <p:cNvSpPr/>
          <p:nvPr>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dirty="0"/>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sp>
        <p:nvSpPr>
          <p:cNvPr id="7" name="正文"/>
          <p:cNvSpPr txBox="1">
            <a:spLocks noGrp="1"/>
          </p:cNvSpPr>
          <p:nvPr>
            <p:ph idx="2"/>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 name="日期占位符 3"/>
          <p:cNvSpPr>
            <a:spLocks noGrp="1"/>
          </p:cNvSpPr>
          <p:nvPr>
            <p:ph type="dt" sz="half" idx="10"/>
            <p:custDataLst>
              <p:tags r:id="rId4"/>
            </p:custDataLst>
          </p:nvPr>
        </p:nvSpPr>
        <p:spPr>
          <a:xfrm>
            <a:off x="699135" y="6314440"/>
            <a:ext cx="2613025" cy="316865"/>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showMasterSp="0">
  <p:cSld name="标题和副标题">
    <p:spTree>
      <p:nvGrpSpPr>
        <p:cNvPr id="1" name=""/>
        <p:cNvGrpSpPr/>
        <p:nvPr/>
      </p:nvGrpSpPr>
      <p:grpSpPr>
        <a:xfrm>
          <a:off x="0" y="0"/>
          <a:ext cx="0" cy="0"/>
          <a:chOff x="0" y="0"/>
          <a:chExt cx="0" cy="0"/>
        </a:xfrm>
      </p:grpSpPr>
      <p:sp>
        <p:nvSpPr>
          <p:cNvPr id="8" name="任意多边形 7"/>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副标题"/>
          <p:cNvSpPr txBox="1">
            <a:spLocks noGrp="1"/>
          </p:cNvSpPr>
          <p:nvPr>
            <p:ph type="body" idx="2" hasCustomPrompt="1"/>
            <p:custDataLst>
              <p:tags r:id="rId3"/>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n-lt"/>
                <a:ea typeface="+mn-lt"/>
                <a:cs typeface="MiSans Normal" panose="00000500000000000000" charset="-122"/>
              </a:defRPr>
            </a:lvl1pPr>
          </a:lstStyle>
          <a:p>
            <a:pPr lvl="0" algn="l"/>
            <a:r>
              <a:rPr>
                <a:sym typeface="+mn-ea"/>
              </a:rPr>
              <a:t>单击此处编辑母版副标题样式</a:t>
            </a:r>
            <a:endParaRPr>
              <a:sym typeface="+mn-ea"/>
            </a:endParaRPr>
          </a:p>
        </p:txBody>
      </p:sp>
      <p:sp>
        <p:nvSpPr>
          <p:cNvPr id="6" name="标题"/>
          <p:cNvSpPr txBox="1">
            <a:spLocks noGrp="1"/>
          </p:cNvSpPr>
          <p:nvPr>
            <p:ph type="title" idx="1"/>
            <p:custDataLst>
              <p:tags r:id="rId4"/>
            </p:custDataLst>
          </p:nvPr>
        </p:nvSpPr>
        <p:spPr>
          <a:xfrm>
            <a:off x="695960" y="360000"/>
            <a:ext cx="10800080" cy="720000"/>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endParaRPr>
              <a:sym typeface="+mn-ea"/>
            </a:endParaRPr>
          </a:p>
        </p:txBody>
      </p:sp>
      <p:sp>
        <p:nvSpPr>
          <p:cNvPr id="3" name="日期占位符 2"/>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bg2"/>
        </a:solidFill>
        <a:effectLst/>
      </p:bgPr>
    </p:bg>
    <p:spTree>
      <p:nvGrpSpPr>
        <p:cNvPr id="1" name=""/>
        <p:cNvGrpSpPr/>
        <p:nvPr/>
      </p:nvGrpSpPr>
      <p:grpSpPr>
        <a:xfrm>
          <a:off x="0" y="0"/>
          <a:ext cx="0" cy="0"/>
          <a:chOff x="0" y="0"/>
          <a:chExt cx="0" cy="0"/>
        </a:xfrm>
      </p:grpSpPr>
      <p:sp>
        <p:nvSpPr>
          <p:cNvPr id="23" name="任意多边形 22"/>
          <p:cNvSpPr/>
          <p:nvPr userDrawn="1">
            <p:custDataLst>
              <p:tags r:id="rId2"/>
            </p:custDataLst>
          </p:nvPr>
        </p:nvSpPr>
        <p:spPr>
          <a:xfrm>
            <a:off x="-14605" y="-1"/>
            <a:ext cx="6006465" cy="6858001"/>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24" name="任意多边形 23"/>
          <p:cNvSpPr/>
          <p:nvPr userDrawn="1">
            <p:custDataLst>
              <p:tags r:id="rId3"/>
            </p:custDataLst>
          </p:nvPr>
        </p:nvSpPr>
        <p:spPr>
          <a:xfrm rot="16200000">
            <a:off x="-1383664" y="1369058"/>
            <a:ext cx="6858000"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6" name="任意多边形 25"/>
          <p:cNvSpPr/>
          <p:nvPr userDrawn="1">
            <p:custDataLst>
              <p:tags r:id="rId4"/>
            </p:custDataLst>
          </p:nvPr>
        </p:nvSpPr>
        <p:spPr>
          <a:xfrm rot="16200000">
            <a:off x="-1336642" y="2318743"/>
            <a:ext cx="4864351" cy="222027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30" name="圆角矩形 29"/>
          <p:cNvSpPr/>
          <p:nvPr userDrawn="1">
            <p:custDataLst>
              <p:tags r:id="rId5"/>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32" name="直接连接符 31"/>
          <p:cNvCxnSpPr/>
          <p:nvPr userDrawn="1">
            <p:custDataLst>
              <p:tags r:id="rId6"/>
            </p:custDataLst>
          </p:nvPr>
        </p:nvCxnSpPr>
        <p:spPr>
          <a:xfrm>
            <a:off x="11197590" y="298132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7"/>
            </p:custDataLst>
          </p:nvPr>
        </p:nvCxnSpPr>
        <p:spPr>
          <a:xfrm>
            <a:off x="11305540" y="191262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8"/>
            </p:custDataLst>
          </p:nvPr>
        </p:nvCxnSpPr>
        <p:spPr>
          <a:xfrm>
            <a:off x="11305540" y="345503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userDrawn="1">
            <p:custDataLst>
              <p:tags r:id="rId9"/>
            </p:custDataLst>
          </p:nvPr>
        </p:nvSpPr>
        <p:spPr>
          <a:xfrm>
            <a:off x="10016490" y="4434205"/>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38" name="椭圆 37"/>
          <p:cNvSpPr/>
          <p:nvPr userDrawn="1">
            <p:custDataLst>
              <p:tags r:id="rId10"/>
            </p:custDataLst>
          </p:nvPr>
        </p:nvSpPr>
        <p:spPr>
          <a:xfrm>
            <a:off x="10123170" y="4540885"/>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endParaRPr lang="zh-CN" altLang="en-US">
              <a:cs typeface="MiSans Normal" panose="00000500000000000000" charset="-122"/>
            </a:endParaRPr>
          </a:p>
        </p:txBody>
      </p:sp>
      <p:sp>
        <p:nvSpPr>
          <p:cNvPr id="39" name="向下箭头"/>
          <p:cNvSpPr/>
          <p:nvPr userDrawn="1">
            <p:custDataLst>
              <p:tags r:id="rId11"/>
            </p:custDataLst>
          </p:nvPr>
        </p:nvSpPr>
        <p:spPr>
          <a:xfrm>
            <a:off x="10227310" y="4633595"/>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4" name="任意多边形 43"/>
          <p:cNvSpPr/>
          <p:nvPr userDrawn="1">
            <p:custDataLst>
              <p:tags r:id="rId12"/>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3"/>
            </p:custDataLst>
          </p:nvPr>
        </p:nvSpPr>
        <p:spPr>
          <a:xfrm>
            <a:off x="2418715" y="1901190"/>
            <a:ext cx="8250555" cy="170561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en-US" altLang="zh-CN" sz="7200" b="0" i="0" u="none" strike="noStrike" kern="1200" cap="none" spc="0" normalizeH="0" baseline="0" noProof="1">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a:sym typeface="+mn-ea"/>
              </a:rPr>
              <a:t>单击此处编辑标题</a:t>
            </a:r>
            <a:endParaRPr>
              <a:sym typeface="+mn-ea"/>
            </a:endParaRPr>
          </a:p>
        </p:txBody>
      </p:sp>
      <p:sp>
        <p:nvSpPr>
          <p:cNvPr id="4" name="日期占位符 3"/>
          <p:cNvSpPr>
            <a:spLocks noGrp="1"/>
          </p:cNvSpPr>
          <p:nvPr>
            <p:ph type="dt" sz="half" idx="10"/>
            <p:custDataLst>
              <p:tags r:id="rId1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18" name="署名占位符 10"/>
          <p:cNvSpPr>
            <a:spLocks noGrp="1"/>
          </p:cNvSpPr>
          <p:nvPr>
            <p:ph type="body" sz="quarter" idx="17" hasCustomPrompt="1"/>
            <p:custDataLst>
              <p:tags r:id="rId17"/>
            </p:custDataLst>
          </p:nvPr>
        </p:nvSpPr>
        <p:spPr>
          <a:xfrm>
            <a:off x="2418715" y="4375145"/>
            <a:ext cx="7444103"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1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9" name="日期占位符 8"/>
          <p:cNvSpPr>
            <a:spLocks noGrp="1"/>
          </p:cNvSpPr>
          <p:nvPr>
            <p:ph type="dt" sz="half" idx="10"/>
            <p:custDataLst>
              <p:tags r:id="rId13"/>
            </p:custDataLst>
          </p:nvPr>
        </p:nvSpPr>
        <p:spPr>
          <a:xfrm>
            <a:off x="695960" y="6356350"/>
            <a:ext cx="2743200" cy="365125"/>
          </a:xfrm>
        </p:spPr>
        <p:txBody>
          <a:bodyPr/>
          <a:lstStyle/>
          <a:p>
            <a:fld id="{760FBDFE-C587-4B4C-A407-44438C67B59E}" type="datetimeFigureOut">
              <a:rPr lang="zh-CN" altLang="en-US" smtClean="0"/>
            </a:fld>
            <a:endParaRPr lang="zh-CN" altLang="en-US"/>
          </a:p>
        </p:txBody>
      </p:sp>
      <p:sp>
        <p:nvSpPr>
          <p:cNvPr id="10" name="页脚占位符 9"/>
          <p:cNvSpPr>
            <a:spLocks noGrp="1"/>
          </p:cNvSpPr>
          <p:nvPr>
            <p:ph type="ftr" sz="quarter" idx="11"/>
            <p:custDataLst>
              <p:tags r:id="rId14"/>
            </p:custDataLst>
          </p:nvPr>
        </p:nvSpPr>
        <p:spPr>
          <a:xfrm>
            <a:off x="4038600" y="6356350"/>
            <a:ext cx="4114800" cy="365125"/>
          </a:xfrm>
        </p:spPr>
        <p:txBody>
          <a:bodyPr/>
          <a:lstStyle/>
          <a:p>
            <a:endParaRPr lang="zh-CN" altLang="en-US" dirty="0"/>
          </a:p>
        </p:txBody>
      </p:sp>
      <p:sp>
        <p:nvSpPr>
          <p:cNvPr id="11" name="灯片编号占位符 10"/>
          <p:cNvSpPr>
            <a:spLocks noGrp="1"/>
          </p:cNvSpPr>
          <p:nvPr>
            <p:ph type="sldNum" sz="quarter" idx="12"/>
            <p:custDataLst>
              <p:tags r:id="rId15"/>
            </p:custDataLst>
          </p:nvPr>
        </p:nvSpPr>
        <p:spPr>
          <a:xfrm>
            <a:off x="8753983" y="6356350"/>
            <a:ext cx="2743200" cy="365125"/>
          </a:xfrm>
        </p:spPr>
        <p:txBody>
          <a:bodyPr/>
          <a:lstStyle/>
          <a:p>
            <a:fld id="{49AE70B2-8BF9-45C0-BB95-33D1B9D3A854}" type="slidenum">
              <a:rPr lang="zh-CN" altLang="en-US" smtClean="0"/>
            </a:fld>
            <a:endParaRPr lang="zh-CN" altLang="en-US" dirty="0"/>
          </a:p>
        </p:txBody>
      </p:sp>
      <p:sp>
        <p:nvSpPr>
          <p:cNvPr id="2" name="标题占位符 1"/>
          <p:cNvSpPr>
            <a:spLocks noGrp="1"/>
          </p:cNvSpPr>
          <p:nvPr>
            <p:ph type="title"/>
            <p:custDataLst>
              <p:tags r:id="rId16"/>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iSans Normal" panose="000005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tags" Target="../tags/tag105.xml"/><Relationship Id="rId4" Type="http://schemas.openxmlformats.org/officeDocument/2006/relationships/image" Target="../media/image1.png"/><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11.xml"/><Relationship Id="rId3" Type="http://schemas.openxmlformats.org/officeDocument/2006/relationships/image" Target="../media/image2.png"/><Relationship Id="rId2" Type="http://schemas.openxmlformats.org/officeDocument/2006/relationships/tags" Target="../tags/tag110.xml"/><Relationship Id="rId1" Type="http://schemas.openxmlformats.org/officeDocument/2006/relationships/tags" Target="../tags/tag109.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117.xml"/><Relationship Id="rId3" Type="http://schemas.openxmlformats.org/officeDocument/2006/relationships/image" Target="../media/image3.png"/><Relationship Id="rId2" Type="http://schemas.openxmlformats.org/officeDocument/2006/relationships/tags" Target="../tags/tag116.xml"/><Relationship Id="rId1" Type="http://schemas.openxmlformats.org/officeDocument/2006/relationships/tags" Target="../tags/tag115.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23.xml"/><Relationship Id="rId3" Type="http://schemas.openxmlformats.org/officeDocument/2006/relationships/image" Target="../media/image4.png"/><Relationship Id="rId2" Type="http://schemas.openxmlformats.org/officeDocument/2006/relationships/tags" Target="../tags/tag122.xml"/><Relationship Id="rId1" Type="http://schemas.openxmlformats.org/officeDocument/2006/relationships/tags" Target="../tags/tag121.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129.xml"/><Relationship Id="rId3" Type="http://schemas.openxmlformats.org/officeDocument/2006/relationships/image" Target="../media/image5.png"/><Relationship Id="rId2" Type="http://schemas.openxmlformats.org/officeDocument/2006/relationships/tags" Target="../tags/tag128.xml"/><Relationship Id="rId1" Type="http://schemas.openxmlformats.org/officeDocument/2006/relationships/tags" Target="../tags/tag127.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135.xml"/><Relationship Id="rId3" Type="http://schemas.openxmlformats.org/officeDocument/2006/relationships/image" Target="../media/image6.png"/><Relationship Id="rId2" Type="http://schemas.openxmlformats.org/officeDocument/2006/relationships/tags" Target="../tags/tag134.xml"/><Relationship Id="rId1" Type="http://schemas.openxmlformats.org/officeDocument/2006/relationships/tags" Target="../tags/tag133.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141.xml"/><Relationship Id="rId3" Type="http://schemas.openxmlformats.org/officeDocument/2006/relationships/image" Target="../media/image7.png"/><Relationship Id="rId2" Type="http://schemas.openxmlformats.org/officeDocument/2006/relationships/tags" Target="../tags/tag140.xml"/><Relationship Id="rId1" Type="http://schemas.openxmlformats.org/officeDocument/2006/relationships/tags" Target="../tags/tag139.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标题 7"/>
          <p:cNvSpPr>
            <a:spLocks noGrp="1"/>
          </p:cNvSpPr>
          <p:nvPr>
            <p:ph type="title" idx="1"/>
            <p:custDataLst>
              <p:tags r:id="rId1"/>
            </p:custDataLst>
          </p:nvPr>
        </p:nvSpPr>
        <p:spPr>
          <a:xfrm>
            <a:off x="2273300" y="1901190"/>
            <a:ext cx="8413750" cy="1709420"/>
          </a:xfrm>
        </p:spPr>
        <p:txBody>
          <a:bodyPr/>
          <a:lstStyle/>
          <a:p>
            <a:r>
              <a:rPr lang="en-US" altLang="zh-CN" dirty="0"/>
              <a:t>2D</a:t>
            </a:r>
            <a:r>
              <a:rPr dirty="0"/>
              <a:t>图像检测模型</a:t>
            </a:r>
            <a:endParaRPr dirty="0"/>
          </a:p>
        </p:txBody>
      </p:sp>
      <p:sp>
        <p:nvSpPr>
          <p:cNvPr id="2" name="文本占位符 1"/>
          <p:cNvSpPr/>
          <p:nvPr>
            <p:ph type="body" sz="quarter" idx="17"/>
            <p:custDataLst>
              <p:tags r:id="rId2"/>
            </p:custDataLst>
          </p:nvPr>
        </p:nvSpPr>
        <p:spPr/>
        <p:txBody>
          <a:bodyPr/>
          <a:p>
            <a:r>
              <a:rPr lang="zh-CN" altLang="en-US"/>
              <a:t>噪声干扰、白盒攻击与黑盒攻击</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196975"/>
            <a:ext cx="10800080" cy="4931410"/>
          </a:xfrm>
        </p:spPr>
        <p:txBody>
          <a:bodyPr/>
          <a:lstStyle/>
          <a:p>
            <a:r>
              <a:rPr lang="zh-CN" altLang="en-US"/>
              <a:t>基础模型，选用</a:t>
            </a:r>
            <a:r>
              <a:rPr lang="en-US" altLang="zh-CN"/>
              <a:t> pytorch </a:t>
            </a:r>
            <a:r>
              <a:rPr lang="zh-CN" altLang="en-US"/>
              <a:t>里已有的</a:t>
            </a:r>
            <a:r>
              <a:rPr lang="en-US" altLang="zh-CN"/>
              <a:t> Faster R-CNN </a:t>
            </a:r>
            <a:r>
              <a:rPr lang="zh-CN" altLang="en-US"/>
              <a:t>模型。因为直接用</a:t>
            </a:r>
            <a:r>
              <a:rPr lang="en-US" altLang="zh-CN"/>
              <a:t> VOC </a:t>
            </a:r>
            <a:r>
              <a:rPr lang="zh-CN" altLang="en-US"/>
              <a:t>数据集进行训练需要的时间太长，所以选择直接加载</a:t>
            </a:r>
            <a:r>
              <a:rPr lang="en-US" altLang="zh-CN"/>
              <a:t> COCO </a:t>
            </a:r>
            <a:r>
              <a:rPr lang="zh-CN" altLang="en-US"/>
              <a:t>数据集预训练权重，替换头部为适配</a:t>
            </a:r>
            <a:r>
              <a:rPr lang="en-US" altLang="zh-CN"/>
              <a:t> VOC2007 </a:t>
            </a:r>
            <a:r>
              <a:rPr lang="zh-CN" altLang="en-US"/>
              <a:t>类别数的预测头，然后再调用</a:t>
            </a:r>
            <a:r>
              <a:rPr lang="en-US" altLang="zh-CN"/>
              <a:t> VOC2007 </a:t>
            </a:r>
            <a:r>
              <a:rPr lang="zh-CN" altLang="en-US"/>
              <a:t>数据集进行多轮微调训练。最终用</a:t>
            </a:r>
            <a:r>
              <a:rPr lang="en-US" altLang="zh-CN"/>
              <a:t> VOC </a:t>
            </a:r>
            <a:r>
              <a:rPr lang="zh-CN" altLang="en-US"/>
              <a:t>数据集随机样本进行测试。</a:t>
            </a:r>
            <a:endParaRPr lang="zh-CN" altLang="en-US"/>
          </a:p>
          <a:p>
            <a:endParaRPr lang="zh-CN" altLang="en-US"/>
          </a:p>
        </p:txBody>
      </p:sp>
      <p:sp>
        <p:nvSpPr>
          <p:cNvPr id="4" name="标题 3"/>
          <p:cNvSpPr>
            <a:spLocks noGrp="1"/>
          </p:cNvSpPr>
          <p:nvPr>
            <p:ph type="title" idx="1"/>
            <p:custDataLst>
              <p:tags r:id="rId2"/>
            </p:custDataLst>
          </p:nvPr>
        </p:nvSpPr>
        <p:spPr/>
        <p:txBody>
          <a:bodyPr/>
          <a:lstStyle/>
          <a:p>
            <a:r>
              <a:rPr lang="zh-CN" altLang="en-US"/>
              <a:t>模型与数据集</a:t>
            </a:r>
            <a:endParaRPr lang="zh-CN" altLang="en-US"/>
          </a:p>
        </p:txBody>
      </p:sp>
      <p:sp>
        <p:nvSpPr>
          <p:cNvPr id="3" name="内容占位符 1"/>
          <p:cNvSpPr>
            <a:spLocks noGrp="1"/>
          </p:cNvSpPr>
          <p:nvPr>
            <p:custDataLst>
              <p:tags r:id="rId3"/>
            </p:custDataLst>
          </p:nvPr>
        </p:nvSpPr>
        <p:spPr>
          <a:xfrm>
            <a:off x="695960" y="2958465"/>
            <a:ext cx="5147945" cy="347980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449580" marR="0" lvl="1" indent="-231775" algn="l"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sz="1600" b="0" i="0" u="none" strike="noStrike" kern="1200" cap="none" spc="150" normalizeH="0" baseline="0">
                <a:ln>
                  <a:noFill/>
                  <a:prstDash val="sysDot"/>
                </a:ln>
                <a:solidFill>
                  <a:schemeClr val="tx1">
                    <a:lumMod val="50000"/>
                    <a:lumOff val="50000"/>
                  </a:schemeClr>
                </a:solidFill>
                <a:uFillTx/>
                <a:latin typeface="+mn-ea"/>
                <a:ea typeface="+mn-ea"/>
                <a:cs typeface="MiSans Normal" panose="00000500000000000000" charset="-122"/>
              </a:defRPr>
            </a:lvl2pPr>
            <a:lvl3pPr marL="719455" marR="0" lvl="2" indent="-276225" algn="l" defTabSz="914400" rtl="0" eaLnBrk="1" fontAlgn="auto" latinLnBrk="0" hangingPunct="1">
              <a:lnSpc>
                <a:spcPct val="120000"/>
              </a:lnSpc>
              <a:spcBef>
                <a:spcPts val="0"/>
              </a:spcBef>
              <a:spcAft>
                <a:spcPts val="600"/>
              </a:spcAft>
              <a:buFont typeface="Arial" panose="020B0604020202020204" pitchFamily="34" charset="0"/>
              <a:buChar char="●"/>
              <a:defRPr kumimoji="0" sz="1600" b="0" i="0" u="none" strike="noStrike" kern="1200" cap="none" spc="150" normalizeH="0" baseline="0">
                <a:ln>
                  <a:noFill/>
                  <a:prstDash val="sysDot"/>
                </a:ln>
                <a:solidFill>
                  <a:schemeClr val="tx1">
                    <a:lumMod val="50000"/>
                    <a:lumOff val="50000"/>
                  </a:schemeClr>
                </a:solidFill>
                <a:uFillTx/>
                <a:latin typeface="+mn-ea"/>
                <a:ea typeface="+mn-ea"/>
                <a:cs typeface="MiSans Normal" panose="00000500000000000000" charset="-122"/>
              </a:defRPr>
            </a:lvl3pPr>
            <a:lvl4pPr marL="987425" marR="0" lvl="3" indent="-262255" algn="l" rtl="0" eaLnBrk="1" fontAlgn="auto" latinLnBrk="0" hangingPunct="1">
              <a:lnSpc>
                <a:spcPct val="120000"/>
              </a:lnSpc>
              <a:spcBef>
                <a:spcPts val="0"/>
              </a:spcBef>
              <a:spcAft>
                <a:spcPts val="300"/>
              </a:spcAft>
              <a:buFont typeface="Wingdings" panose="05000000000000000000" charset="0"/>
              <a:buChar char=""/>
              <a:tabLst>
                <a:tab pos="899795" algn="l"/>
              </a:tabLst>
              <a:defRPr kumimoji="0" sz="1400" b="0" i="0" u="none" strike="noStrike" kern="1200" cap="none" spc="150" normalizeH="0" baseline="0">
                <a:ln>
                  <a:noFill/>
                  <a:prstDash val="sysDot"/>
                </a:ln>
                <a:solidFill>
                  <a:schemeClr val="tx1">
                    <a:lumMod val="50000"/>
                    <a:lumOff val="50000"/>
                  </a:schemeClr>
                </a:solidFill>
                <a:uFillTx/>
                <a:latin typeface="+mn-ea"/>
                <a:ea typeface="+mn-ea"/>
                <a:cs typeface="MiSans Normal" panose="00000500000000000000" charset="-122"/>
              </a:defRPr>
            </a:lvl4pPr>
            <a:lvl5pPr marL="1256030" marR="0" lvl="4" indent="-262255" algn="l" defTabSz="914400" rtl="0" eaLnBrk="1" fontAlgn="auto" latinLnBrk="0" hangingPunct="1">
              <a:lnSpc>
                <a:spcPct val="120000"/>
              </a:lnSpc>
              <a:spcBef>
                <a:spcPts val="0"/>
              </a:spcBef>
              <a:spcAft>
                <a:spcPts val="300"/>
              </a:spcAft>
              <a:buFont typeface="Arial" panose="020B0604020202020204" pitchFamily="34" charset="0"/>
              <a:buChar char="•"/>
              <a:defRPr kumimoji="0" sz="1400" b="0" i="0" u="none" strike="noStrike" kern="1200" cap="none" spc="150" normalizeH="0" baseline="0">
                <a:ln>
                  <a:noFill/>
                  <a:prstDash val="sysDot"/>
                </a:ln>
                <a:solidFill>
                  <a:schemeClr val="tx1">
                    <a:lumMod val="50000"/>
                    <a:lumOff val="50000"/>
                  </a:schemeClr>
                </a:solidFill>
                <a:uFillTx/>
                <a:latin typeface="+mn-ea"/>
                <a:ea typeface="+mn-ea"/>
                <a:cs typeface="MiSans Normal" panose="00000500000000000000" charset="-122"/>
              </a:defRPr>
            </a:lvl5pPr>
            <a:lvl6pPr marL="2514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a:sym typeface="+mn-ea"/>
              </a:rPr>
              <a:t>进行五轮微调后用</a:t>
            </a:r>
            <a:r>
              <a:rPr lang="en-US" altLang="zh-CN">
                <a:sym typeface="+mn-ea"/>
              </a:rPr>
              <a:t> 1000 </a:t>
            </a:r>
            <a:r>
              <a:rPr>
                <a:sym typeface="+mn-ea"/>
              </a:rPr>
              <a:t>张随机样本进行测试后得到的结果如图所示，精确率大约为</a:t>
            </a:r>
            <a:r>
              <a:rPr lang="en-US" altLang="zh-CN">
                <a:sym typeface="+mn-ea"/>
              </a:rPr>
              <a:t> 69%</a:t>
            </a:r>
            <a:r>
              <a:rPr>
                <a:sym typeface="+mn-ea"/>
              </a:rPr>
              <a:t>，召回率</a:t>
            </a:r>
            <a:r>
              <a:rPr lang="en-US" altLang="zh-CN">
                <a:sym typeface="+mn-ea"/>
              </a:rPr>
              <a:t> 91%</a:t>
            </a:r>
            <a:r>
              <a:rPr>
                <a:sym typeface="+mn-ea"/>
              </a:rPr>
              <a:t>，</a:t>
            </a:r>
            <a:r>
              <a:rPr lang="en-US" altLang="zh-CN">
                <a:sym typeface="+mn-ea"/>
              </a:rPr>
              <a:t>F-score0.78</a:t>
            </a:r>
            <a:r>
              <a:rPr>
                <a:sym typeface="+mn-ea"/>
              </a:rPr>
              <a:t>，准确率</a:t>
            </a:r>
            <a:r>
              <a:rPr lang="en-US" altLang="zh-CN">
                <a:sym typeface="+mn-ea"/>
              </a:rPr>
              <a:t> 64%</a:t>
            </a:r>
            <a:r>
              <a:rPr>
                <a:sym typeface="+mn-ea"/>
              </a:rPr>
              <a:t>。多次重复测试结果稳定，误差较小。</a:t>
            </a:r>
            <a:endParaRPr lang="zh-CN" altLang="en-US"/>
          </a:p>
          <a:p>
            <a:r>
              <a:rPr>
                <a:sym typeface="+mn-ea"/>
              </a:rPr>
              <a:t>若再增加微调训练的轮数准确率等应该都会继续增加。训练结束后的模型会保存，之后的干扰等攻击会直接调用此模型。</a:t>
            </a:r>
            <a:endParaRPr lang="zh-CN" altLang="en-US"/>
          </a:p>
          <a:p>
            <a:endParaRPr lang="zh-CN" altLang="en-US"/>
          </a:p>
        </p:txBody>
      </p:sp>
      <p:pic>
        <p:nvPicPr>
          <p:cNvPr id="5" name="图片 4"/>
          <p:cNvPicPr>
            <a:picLocks noChangeAspect="1"/>
          </p:cNvPicPr>
          <p:nvPr/>
        </p:nvPicPr>
        <p:blipFill>
          <a:blip r:embed="rId4"/>
          <a:srcRect t="10434" r="23047"/>
          <a:stretch>
            <a:fillRect/>
          </a:stretch>
        </p:blipFill>
        <p:spPr>
          <a:xfrm>
            <a:off x="6816090" y="2605405"/>
            <a:ext cx="3796665" cy="4008755"/>
          </a:xfrm>
          <a:prstGeom prst="rect">
            <a:avLst/>
          </a:prstGeom>
        </p:spPr>
      </p:pic>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zh-CN" altLang="en-US"/>
              <a:t>图像中每个像素都被加上一个</a:t>
            </a:r>
            <a:r>
              <a:rPr lang="en-US" altLang="zh-CN"/>
              <a:t>“</a:t>
            </a:r>
            <a:r>
              <a:rPr lang="zh-CN" altLang="en-US"/>
              <a:t>随机抖动值</a:t>
            </a:r>
            <a:r>
              <a:rPr lang="en-US" altLang="zh-CN"/>
              <a:t>”</a:t>
            </a:r>
            <a:r>
              <a:t>，</a:t>
            </a:r>
            <a:r>
              <a:rPr lang="zh-CN" altLang="en-US"/>
              <a:t>这个抖动值服从正态分布。</a:t>
            </a:r>
            <a:endParaRPr lang="zh-CN" altLang="en-US"/>
          </a:p>
          <a:p>
            <a:r>
              <a:rPr lang="zh-CN" altLang="en-US"/>
              <a:t>先把</a:t>
            </a:r>
            <a:r>
              <a:rPr lang="en-US" altLang="zh-CN"/>
              <a:t> VOC </a:t>
            </a:r>
            <a:r>
              <a:rPr lang="zh-CN" altLang="en-US"/>
              <a:t>图像转成</a:t>
            </a:r>
            <a:r>
              <a:rPr lang="en-US" altLang="zh-CN"/>
              <a:t> [0,1] </a:t>
            </a:r>
            <a:r>
              <a:rPr lang="zh-CN" altLang="en-US"/>
              <a:t>范围的张量，然后在</a:t>
            </a:r>
            <a:r>
              <a:rPr lang="en-US" altLang="zh-CN"/>
              <a:t> __call__ </a:t>
            </a:r>
            <a:r>
              <a:rPr lang="zh-CN" altLang="en-US"/>
              <a:t>里对输入图像</a:t>
            </a:r>
            <a:r>
              <a:rPr lang="en-US" altLang="zh-CN"/>
              <a:t> img </a:t>
            </a:r>
            <a:r>
              <a:rPr lang="zh-CN" altLang="en-US"/>
              <a:t>生成一个与其同尺寸的随机噪声张量：</a:t>
            </a:r>
            <a:r>
              <a:rPr lang="en-US" altLang="zh-CN"/>
              <a:t>noise = torch.randn_like(img) * sigma</a:t>
            </a:r>
            <a:r>
              <a:rPr lang="zh-CN" altLang="en-US"/>
              <a:t>。</a:t>
            </a:r>
            <a:r>
              <a:rPr lang="en-US" altLang="zh-CN"/>
              <a:t> torch.randn_like(img) </a:t>
            </a:r>
            <a:r>
              <a:t>代表</a:t>
            </a:r>
            <a:r>
              <a:rPr lang="zh-CN" altLang="en-US"/>
              <a:t>均值为</a:t>
            </a:r>
            <a:r>
              <a:rPr lang="en-US" altLang="zh-CN"/>
              <a:t> 0</a:t>
            </a:r>
            <a:r>
              <a:rPr lang="zh-CN" altLang="en-US"/>
              <a:t>、方差为</a:t>
            </a:r>
            <a:r>
              <a:rPr lang="en-US" altLang="zh-CN"/>
              <a:t> 1 </a:t>
            </a:r>
            <a:r>
              <a:rPr lang="zh-CN" altLang="en-US"/>
              <a:t>的高斯随机变量，乘上自定义的</a:t>
            </a:r>
            <a:r>
              <a:rPr lang="en-US" altLang="zh-CN"/>
              <a:t> sigma </a:t>
            </a:r>
            <a:r>
              <a:t>值</a:t>
            </a:r>
            <a:r>
              <a:rPr lang="zh-CN" altLang="en-US"/>
              <a:t>后就把噪声强度控制在指定水平。随后代码执行</a:t>
            </a:r>
            <a:r>
              <a:rPr lang="en-US" altLang="zh-CN"/>
              <a:t> torch.clamp(img + noise, 0.0, 1.0)</a:t>
            </a:r>
            <a:r>
              <a:rPr lang="zh-CN" altLang="en-US"/>
              <a:t>，把加噪后的像素重新裁剪回合法区间，得到</a:t>
            </a:r>
            <a:r>
              <a:rPr lang="en-US" altLang="zh-CN"/>
              <a:t> img_noisy</a:t>
            </a:r>
            <a:r>
              <a:rPr lang="zh-CN" altLang="en-US"/>
              <a:t>。</a:t>
            </a:r>
            <a:endParaRPr lang="zh-CN" altLang="en-US"/>
          </a:p>
        </p:txBody>
      </p:sp>
      <p:sp>
        <p:nvSpPr>
          <p:cNvPr id="4" name="标题 3"/>
          <p:cNvSpPr>
            <a:spLocks noGrp="1"/>
          </p:cNvSpPr>
          <p:nvPr>
            <p:ph type="title" idx="1"/>
            <p:custDataLst>
              <p:tags r:id="rId2"/>
            </p:custDataLst>
          </p:nvPr>
        </p:nvSpPr>
        <p:spPr/>
        <p:txBody>
          <a:bodyPr/>
          <a:lstStyle/>
          <a:p>
            <a:r>
              <a:rPr lang="zh-CN" altLang="en-US"/>
              <a:t>高斯噪声</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562610" y="1198880"/>
            <a:ext cx="5622290" cy="4931410"/>
          </a:xfrm>
        </p:spPr>
        <p:txBody>
          <a:bodyPr>
            <a:noAutofit/>
          </a:bodyPr>
          <a:lstStyle/>
          <a:p>
            <a:r>
              <a:rPr lang="zh-CN" altLang="en-US" sz="1200"/>
              <a:t>噪声图像精确率</a:t>
            </a:r>
            <a:r>
              <a:rPr sz="1200"/>
              <a:t> 57.96%</a:t>
            </a:r>
            <a:r>
              <a:rPr lang="zh-CN" altLang="en-US" sz="1200"/>
              <a:t>：模型预测框中真实目标占比</a:t>
            </a:r>
            <a:r>
              <a:rPr sz="1200"/>
              <a:t> 57.96%</a:t>
            </a:r>
            <a:r>
              <a:rPr lang="zh-CN" altLang="en-US" sz="1200"/>
              <a:t>，较干净图像下降</a:t>
            </a:r>
            <a:r>
              <a:rPr sz="1200"/>
              <a:t>10%</a:t>
            </a:r>
            <a:r>
              <a:rPr lang="zh-CN" altLang="en-US" sz="1200"/>
              <a:t>左右。</a:t>
            </a:r>
            <a:endParaRPr lang="zh-CN" altLang="en-US" sz="1200"/>
          </a:p>
          <a:p>
            <a:r>
              <a:rPr lang="zh-CN" altLang="en-US" sz="1200"/>
              <a:t>噪声图像召回率</a:t>
            </a:r>
            <a:r>
              <a:rPr sz="1200"/>
              <a:t> 50.85%</a:t>
            </a:r>
            <a:r>
              <a:rPr lang="zh-CN" altLang="en-US" sz="1200"/>
              <a:t>：实际目标被成功检出比例仅</a:t>
            </a:r>
            <a:r>
              <a:rPr sz="1200"/>
              <a:t> 50.85%</a:t>
            </a:r>
            <a:r>
              <a:rPr lang="zh-CN" altLang="en-US" sz="1200"/>
              <a:t>，大幅下降，说明噪声造成明显漏检。</a:t>
            </a:r>
            <a:endParaRPr lang="zh-CN" altLang="en-US" sz="1200"/>
          </a:p>
          <a:p>
            <a:r>
              <a:rPr lang="zh-CN" altLang="en-US" sz="1200"/>
              <a:t>噪声图像</a:t>
            </a:r>
            <a:r>
              <a:rPr sz="1200"/>
              <a:t> F-score 54.17%</a:t>
            </a:r>
            <a:r>
              <a:rPr lang="zh-CN" altLang="en-US" sz="1200"/>
              <a:t>：精确率与召回率综合指标</a:t>
            </a:r>
            <a:r>
              <a:rPr sz="1200"/>
              <a:t> 54.17%</a:t>
            </a:r>
            <a:r>
              <a:rPr lang="zh-CN" altLang="en-US" sz="1200"/>
              <a:t>，整体检测性能中等下滑。</a:t>
            </a:r>
            <a:endParaRPr lang="zh-CN" altLang="en-US" sz="1200"/>
          </a:p>
          <a:p>
            <a:r>
              <a:rPr lang="zh-CN" altLang="en-US" sz="1200"/>
              <a:t>噪声图像准确率</a:t>
            </a:r>
            <a:r>
              <a:rPr sz="1200"/>
              <a:t> 37.16%</a:t>
            </a:r>
            <a:r>
              <a:rPr lang="zh-CN" altLang="en-US" sz="1200"/>
              <a:t>：全图检测正确比例</a:t>
            </a:r>
            <a:r>
              <a:rPr sz="1200"/>
              <a:t> 37.16%</a:t>
            </a:r>
            <a:r>
              <a:rPr lang="zh-CN" altLang="en-US" sz="1200"/>
              <a:t>，检测整体效果明显变差。</a:t>
            </a:r>
            <a:endParaRPr lang="zh-CN" altLang="en-US" sz="1200"/>
          </a:p>
          <a:p>
            <a:r>
              <a:rPr sz="1200"/>
              <a:t>GT </a:t>
            </a:r>
            <a:r>
              <a:rPr lang="zh-CN" altLang="en-US" sz="1200"/>
              <a:t>级攻击成功率</a:t>
            </a:r>
            <a:r>
              <a:rPr sz="1200"/>
              <a:t> 44.89%</a:t>
            </a:r>
            <a:r>
              <a:rPr lang="zh-CN" altLang="en-US" sz="1200"/>
              <a:t>：</a:t>
            </a:r>
            <a:r>
              <a:rPr sz="1200"/>
              <a:t>44.89% </a:t>
            </a:r>
            <a:r>
              <a:rPr lang="zh-CN" altLang="en-US" sz="1200"/>
              <a:t>的真实目标被噪声干扰导致未正确检出多。</a:t>
            </a:r>
            <a:endParaRPr lang="zh-CN" altLang="en-US" sz="1200"/>
          </a:p>
          <a:p>
            <a:r>
              <a:rPr lang="zh-CN" altLang="en-US" sz="1200"/>
              <a:t>图像级攻击成功率</a:t>
            </a:r>
            <a:r>
              <a:rPr sz="1200"/>
              <a:t> 23.49%</a:t>
            </a:r>
            <a:r>
              <a:rPr lang="zh-CN" altLang="en-US" sz="1200"/>
              <a:t>：</a:t>
            </a:r>
            <a:r>
              <a:rPr sz="1200"/>
              <a:t>23.49% </a:t>
            </a:r>
            <a:r>
              <a:rPr lang="zh-CN" altLang="en-US" sz="1200"/>
              <a:t>的图片检测完全失效。</a:t>
            </a:r>
            <a:endParaRPr lang="zh-CN" altLang="en-US" sz="1200"/>
          </a:p>
          <a:p>
            <a:r>
              <a:rPr sz="1200"/>
              <a:t>MSE 0.008877</a:t>
            </a:r>
            <a:r>
              <a:rPr lang="zh-CN" altLang="en-US" sz="1200"/>
              <a:t>：图像均方误差，代表像素失真程度处于中等水平。</a:t>
            </a:r>
            <a:endParaRPr lang="zh-CN" altLang="en-US" sz="1200"/>
          </a:p>
          <a:p>
            <a:r>
              <a:rPr sz="1200"/>
              <a:t>SSIM 0.9088</a:t>
            </a:r>
            <a:r>
              <a:rPr lang="zh-CN" altLang="en-US" sz="1200"/>
              <a:t>：结构相似度中等，图像结构被一定程度破坏但未崩溃。</a:t>
            </a:r>
            <a:endParaRPr lang="zh-CN" altLang="en-US" sz="1200"/>
          </a:p>
          <a:p>
            <a:r>
              <a:rPr sz="1200"/>
              <a:t>PSNR 20.53dB</a:t>
            </a:r>
            <a:r>
              <a:rPr lang="zh-CN" altLang="en-US" sz="1200"/>
              <a:t>：画质指标中等，噪声可见但不过度失真。</a:t>
            </a:r>
            <a:endParaRPr lang="zh-CN" altLang="en-US" sz="1200"/>
          </a:p>
          <a:p>
            <a:r>
              <a:rPr lang="zh-CN" altLang="en-US" sz="1200"/>
              <a:t>总结：高斯噪声全局均匀扰动，使检测精度、漏检率、图像失真均处于中等水平，干扰温和但效果明显。</a:t>
            </a:r>
            <a:endParaRPr lang="zh-CN" altLang="en-US" sz="1200"/>
          </a:p>
        </p:txBody>
      </p:sp>
      <p:sp>
        <p:nvSpPr>
          <p:cNvPr id="4" name="标题 3"/>
          <p:cNvSpPr>
            <a:spLocks noGrp="1"/>
          </p:cNvSpPr>
          <p:nvPr>
            <p:ph type="title" idx="1"/>
            <p:custDataLst>
              <p:tags r:id="rId2"/>
            </p:custDataLst>
          </p:nvPr>
        </p:nvSpPr>
        <p:spPr/>
        <p:txBody>
          <a:bodyPr/>
          <a:lstStyle/>
          <a:p>
            <a:r>
              <a:rPr lang="zh-CN" altLang="en-US"/>
              <a:t>高斯噪声</a:t>
            </a:r>
            <a:endParaRPr lang="zh-CN" altLang="en-US"/>
          </a:p>
        </p:txBody>
      </p:sp>
      <p:pic>
        <p:nvPicPr>
          <p:cNvPr id="3" name="图片 2"/>
          <p:cNvPicPr>
            <a:picLocks noChangeAspect="1"/>
          </p:cNvPicPr>
          <p:nvPr/>
        </p:nvPicPr>
        <p:blipFill>
          <a:blip r:embed="rId3"/>
          <a:stretch>
            <a:fillRect/>
          </a:stretch>
        </p:blipFill>
        <p:spPr>
          <a:xfrm>
            <a:off x="6184900" y="1702435"/>
            <a:ext cx="5784850" cy="3924300"/>
          </a:xfrm>
          <a:prstGeom prst="rect">
            <a:avLst/>
          </a:prstGeom>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zh-CN" altLang="en-US"/>
              <a:t>脉冲噪声，表现为图像里随机出现的黑白点：一部分像素被直接改成</a:t>
            </a:r>
            <a:r>
              <a:rPr lang="en-US" altLang="zh-CN"/>
              <a:t> 1</a:t>
            </a:r>
            <a:r>
              <a:rPr lang="zh-CN" altLang="en-US"/>
              <a:t>（盐，白点），另一部分被改成</a:t>
            </a:r>
            <a:r>
              <a:rPr lang="en-US" altLang="zh-CN"/>
              <a:t> 0</a:t>
            </a:r>
            <a:r>
              <a:rPr lang="zh-CN" altLang="en-US"/>
              <a:t>（椒，黑点），其余像素保持不变。</a:t>
            </a:r>
            <a:endParaRPr lang="zh-CN" altLang="en-US"/>
          </a:p>
          <a:p>
            <a:r>
              <a:rPr lang="zh-CN" altLang="en-US"/>
              <a:t>先读取输入图像张量</a:t>
            </a:r>
            <a:r>
              <a:rPr lang="en-US" altLang="zh-CN"/>
              <a:t> img</a:t>
            </a:r>
            <a:r>
              <a:rPr lang="zh-CN" altLang="en-US"/>
              <a:t>（范围</a:t>
            </a:r>
            <a:r>
              <a:rPr lang="en-US" altLang="zh-CN"/>
              <a:t> [0,1]</a:t>
            </a:r>
            <a:r>
              <a:rPr lang="zh-CN" altLang="en-US"/>
              <a:t>），然后按图像空间尺寸生成一个二维随机矩阵</a:t>
            </a:r>
            <a:r>
              <a:rPr lang="en-US" altLang="zh-CN"/>
              <a:t> rand = torch.rand((h, w))</a:t>
            </a:r>
            <a:r>
              <a:rPr lang="zh-CN" altLang="en-US"/>
              <a:t>，再根据噪声概率参数</a:t>
            </a:r>
            <a:r>
              <a:rPr lang="en-US" altLang="zh-CN"/>
              <a:t> p </a:t>
            </a:r>
            <a:r>
              <a:rPr lang="zh-CN" altLang="en-US"/>
              <a:t>把像素位置分成两部分：</a:t>
            </a:r>
            <a:r>
              <a:rPr lang="en-US" altLang="zh-CN"/>
              <a:t>rand &lt; p/2 </a:t>
            </a:r>
            <a:r>
              <a:rPr lang="zh-CN" altLang="en-US"/>
              <a:t>的位置记为</a:t>
            </a:r>
            <a:r>
              <a:rPr lang="en-US" altLang="zh-CN"/>
              <a:t>“</a:t>
            </a:r>
            <a:r>
              <a:rPr lang="zh-CN" altLang="en-US"/>
              <a:t>盐噪声</a:t>
            </a:r>
            <a:r>
              <a:rPr lang="en-US" altLang="zh-CN"/>
              <a:t>”</a:t>
            </a:r>
            <a:r>
              <a:rPr lang="zh-CN" altLang="en-US"/>
              <a:t>（像素强制置为</a:t>
            </a:r>
            <a:r>
              <a:rPr lang="en-US" altLang="zh-CN"/>
              <a:t> 1.0</a:t>
            </a:r>
            <a:r>
              <a:rPr lang="zh-CN" altLang="en-US"/>
              <a:t>），</a:t>
            </a:r>
            <a:r>
              <a:rPr lang="en-US" altLang="zh-CN"/>
              <a:t>p/2 &lt;= rand &lt; p </a:t>
            </a:r>
            <a:r>
              <a:rPr lang="zh-CN" altLang="en-US"/>
              <a:t>的位置记为</a:t>
            </a:r>
            <a:r>
              <a:rPr lang="en-US" altLang="zh-CN"/>
              <a:t>“</a:t>
            </a:r>
            <a:r>
              <a:rPr lang="zh-CN" altLang="en-US"/>
              <a:t>椒噪声</a:t>
            </a:r>
            <a:r>
              <a:rPr lang="en-US" altLang="zh-CN"/>
              <a:t>”</a:t>
            </a:r>
            <a:r>
              <a:rPr lang="zh-CN" altLang="en-US"/>
              <a:t>（像素强制置为</a:t>
            </a:r>
            <a:r>
              <a:rPr lang="en-US" altLang="zh-CN"/>
              <a:t> 0.0</a:t>
            </a:r>
            <a:r>
              <a:rPr lang="zh-CN" altLang="en-US"/>
              <a:t>），其余位置保持原值不变。</a:t>
            </a:r>
            <a:endParaRPr lang="zh-CN" altLang="en-US"/>
          </a:p>
          <a:p>
            <a:r>
              <a:rPr lang="zh-CN" altLang="en-US"/>
              <a:t>这个实现和高斯噪声不同，它不是连续微扰，而是直接把部分像素</a:t>
            </a:r>
            <a:r>
              <a:rPr lang="en-US" altLang="zh-CN"/>
              <a:t>“</a:t>
            </a:r>
            <a:r>
              <a:rPr lang="zh-CN" altLang="en-US"/>
              <a:t>打白</a:t>
            </a:r>
            <a:r>
              <a:rPr lang="en-US" altLang="zh-CN"/>
              <a:t>/</a:t>
            </a:r>
            <a:r>
              <a:rPr lang="zh-CN" altLang="en-US"/>
              <a:t>打黑</a:t>
            </a:r>
            <a:r>
              <a:rPr lang="en-US" altLang="zh-CN"/>
              <a:t>”</a:t>
            </a:r>
            <a:r>
              <a:rPr lang="zh-CN" altLang="en-US"/>
              <a:t>，对小目标边缘和纹理信息破坏更明显。</a:t>
            </a:r>
            <a:endParaRPr lang="zh-CN" altLang="en-US"/>
          </a:p>
        </p:txBody>
      </p:sp>
      <p:sp>
        <p:nvSpPr>
          <p:cNvPr id="4" name="标题 3"/>
          <p:cNvSpPr>
            <a:spLocks noGrp="1"/>
          </p:cNvSpPr>
          <p:nvPr>
            <p:ph type="title" idx="1"/>
            <p:custDataLst>
              <p:tags r:id="rId2"/>
            </p:custDataLst>
          </p:nvPr>
        </p:nvSpPr>
        <p:spPr/>
        <p:txBody>
          <a:bodyPr/>
          <a:lstStyle/>
          <a:p>
            <a:r>
              <a:rPr lang="zh-CN" altLang="en-US"/>
              <a:t>椒盐噪声</a:t>
            </a:r>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562610" y="1198880"/>
            <a:ext cx="5622290" cy="4931410"/>
          </a:xfrm>
        </p:spPr>
        <p:txBody>
          <a:bodyPr>
            <a:noAutofit/>
          </a:bodyPr>
          <a:lstStyle/>
          <a:p>
            <a:r>
              <a:rPr lang="zh-CN" altLang="en-US" sz="1200"/>
              <a:t>噪声图像精确率</a:t>
            </a:r>
            <a:r>
              <a:rPr lang="en-US" altLang="zh-CN" sz="1200"/>
              <a:t> 60.42%</a:t>
            </a:r>
            <a:r>
              <a:rPr lang="zh-CN" altLang="en-US" sz="1200"/>
              <a:t>：预测准确比例相对下降不多。</a:t>
            </a:r>
            <a:endParaRPr lang="zh-CN" altLang="en-US" sz="1200"/>
          </a:p>
          <a:p>
            <a:r>
              <a:rPr lang="zh-CN" altLang="en-US" sz="1200"/>
              <a:t>噪声图像召回率</a:t>
            </a:r>
            <a:r>
              <a:rPr lang="en-US" altLang="zh-CN" sz="1200"/>
              <a:t> 28.36%</a:t>
            </a:r>
            <a:r>
              <a:rPr lang="zh-CN" altLang="en-US" sz="1200"/>
              <a:t>：仅</a:t>
            </a:r>
            <a:r>
              <a:rPr lang="en-US" altLang="zh-CN" sz="1200"/>
              <a:t> 28.36% </a:t>
            </a:r>
            <a:r>
              <a:rPr lang="zh-CN" altLang="en-US" sz="1200"/>
              <a:t>目标被检出，大幅暴跌，说明椒盐噪声造成极其严重的漏检。</a:t>
            </a:r>
            <a:endParaRPr lang="zh-CN" altLang="en-US" sz="1200"/>
          </a:p>
          <a:p>
            <a:r>
              <a:rPr lang="zh-CN" altLang="en-US" sz="1200"/>
              <a:t>噪声图像</a:t>
            </a:r>
            <a:r>
              <a:rPr lang="en-US" altLang="zh-CN" sz="1200"/>
              <a:t> F-score 38.60%</a:t>
            </a:r>
            <a:r>
              <a:rPr lang="zh-CN" altLang="en-US" sz="1200"/>
              <a:t>：综合性能仅</a:t>
            </a:r>
            <a:r>
              <a:rPr lang="en-US" altLang="zh-CN" sz="1200"/>
              <a:t> 38.60%</a:t>
            </a:r>
            <a:r>
              <a:rPr lang="zh-CN" altLang="en-US" sz="1200"/>
              <a:t>，为三者中最低，检测几乎失效。</a:t>
            </a:r>
            <a:endParaRPr lang="zh-CN" altLang="en-US" sz="1200"/>
          </a:p>
          <a:p>
            <a:r>
              <a:rPr lang="zh-CN" altLang="en-US" sz="1200"/>
              <a:t>噪声图像准确率</a:t>
            </a:r>
            <a:r>
              <a:rPr lang="en-US" altLang="zh-CN" sz="1200"/>
              <a:t> 23.92%</a:t>
            </a:r>
            <a:r>
              <a:rPr lang="zh-CN" altLang="en-US" sz="1200"/>
              <a:t>：全图正确检测比例极低，模型基本失去检测能力。</a:t>
            </a:r>
            <a:endParaRPr lang="zh-CN" altLang="en-US" sz="1200"/>
          </a:p>
          <a:p>
            <a:r>
              <a:rPr lang="en-US" altLang="zh-CN" sz="1200"/>
              <a:t>GT </a:t>
            </a:r>
            <a:r>
              <a:rPr lang="zh-CN" altLang="en-US" sz="1200"/>
              <a:t>级攻击成功率</a:t>
            </a:r>
            <a:r>
              <a:rPr lang="en-US" altLang="zh-CN" sz="1200"/>
              <a:t> 68.88%</a:t>
            </a:r>
            <a:r>
              <a:rPr lang="zh-CN" altLang="en-US" sz="1200"/>
              <a:t>：近</a:t>
            </a:r>
            <a:r>
              <a:rPr lang="en-US" altLang="zh-CN" sz="1200"/>
              <a:t> 69% </a:t>
            </a:r>
            <a:r>
              <a:rPr lang="zh-CN" altLang="en-US" sz="1200"/>
              <a:t>真实目标被干扰失效，干扰能力最强。</a:t>
            </a:r>
            <a:endParaRPr lang="zh-CN" altLang="en-US" sz="1200"/>
          </a:p>
          <a:p>
            <a:r>
              <a:rPr lang="zh-CN" altLang="en-US" sz="1200"/>
              <a:t>图像级攻击成功率</a:t>
            </a:r>
            <a:r>
              <a:rPr lang="en-US" altLang="zh-CN" sz="1200"/>
              <a:t> 53.09%</a:t>
            </a:r>
            <a:r>
              <a:rPr lang="zh-CN" altLang="en-US" sz="1200"/>
              <a:t>：超过一半图片完全检测失败，破坏范围最广。</a:t>
            </a:r>
            <a:endParaRPr lang="zh-CN" altLang="en-US" sz="1200"/>
          </a:p>
          <a:p>
            <a:r>
              <a:rPr lang="en-US" altLang="zh-CN" sz="1200"/>
              <a:t>MSE 0.016624</a:t>
            </a:r>
            <a:r>
              <a:rPr lang="zh-CN" altLang="en-US" sz="1200"/>
              <a:t>：像素失真最大，图像被严重破坏。</a:t>
            </a:r>
            <a:endParaRPr lang="zh-CN" altLang="en-US" sz="1200"/>
          </a:p>
          <a:p>
            <a:r>
              <a:rPr lang="en-US" altLang="zh-CN" sz="1200"/>
              <a:t>SSIM 0.8417</a:t>
            </a:r>
            <a:r>
              <a:rPr lang="zh-CN" altLang="en-US" sz="1200"/>
              <a:t>：结构相似度最低，目标边缘与纹理被严重破坏。</a:t>
            </a:r>
            <a:endParaRPr lang="zh-CN" altLang="en-US" sz="1200"/>
          </a:p>
          <a:p>
            <a:r>
              <a:rPr lang="en-US" altLang="zh-CN" sz="1200"/>
              <a:t>PSNR 17.81dB</a:t>
            </a:r>
            <a:r>
              <a:rPr lang="zh-CN" altLang="en-US" sz="1200"/>
              <a:t>：画质最差，噪声对图像破坏最剧烈。</a:t>
            </a:r>
            <a:endParaRPr lang="zh-CN" altLang="en-US" sz="1200"/>
          </a:p>
          <a:p>
            <a:r>
              <a:rPr lang="zh-CN" altLang="en-US" sz="1200"/>
              <a:t>总结：椒盐噪声通过极端像素突变严重破坏目标特征，导致漏检爆炸、失真最大、干扰最强。</a:t>
            </a:r>
            <a:endParaRPr lang="zh-CN" altLang="en-US" sz="1200"/>
          </a:p>
        </p:txBody>
      </p:sp>
      <p:sp>
        <p:nvSpPr>
          <p:cNvPr id="4" name="标题 3"/>
          <p:cNvSpPr>
            <a:spLocks noGrp="1"/>
          </p:cNvSpPr>
          <p:nvPr>
            <p:ph type="title" idx="1"/>
            <p:custDataLst>
              <p:tags r:id="rId2"/>
            </p:custDataLst>
          </p:nvPr>
        </p:nvSpPr>
        <p:spPr/>
        <p:txBody>
          <a:bodyPr/>
          <a:lstStyle/>
          <a:p>
            <a:r>
              <a:rPr lang="zh-CN" altLang="en-US"/>
              <a:t>椒盐噪声</a:t>
            </a:r>
            <a:endParaRPr lang="zh-CN" altLang="en-US"/>
          </a:p>
        </p:txBody>
      </p:sp>
      <p:pic>
        <p:nvPicPr>
          <p:cNvPr id="5" name="图片 4"/>
          <p:cNvPicPr>
            <a:picLocks noChangeAspect="1"/>
          </p:cNvPicPr>
          <p:nvPr/>
        </p:nvPicPr>
        <p:blipFill>
          <a:blip r:embed="rId3"/>
          <a:stretch>
            <a:fillRect/>
          </a:stretch>
        </p:blipFill>
        <p:spPr>
          <a:xfrm>
            <a:off x="6452235" y="1603375"/>
            <a:ext cx="5124450" cy="391795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zh-CN" altLang="en-US"/>
              <a:t>模拟下雨天气时相机成像中出现的条纹状干扰，通常表现为有方向的细长亮线或半透明线段。它不是随机点状，而是带有长度、角度和密度的结构化噪声。</a:t>
            </a:r>
            <a:endParaRPr lang="zh-CN" altLang="en-US"/>
          </a:p>
          <a:p>
            <a:r>
              <a:rPr lang="zh-CN" altLang="en-US"/>
              <a:t>把雨滴抽象成带方向的半透明线段并叠加到图像上。代码先把张量图像转成</a:t>
            </a:r>
            <a:r>
              <a:rPr lang="en-US" altLang="zh-CN"/>
              <a:t> PIL</a:t>
            </a:r>
            <a:r>
              <a:rPr lang="zh-CN" altLang="en-US"/>
              <a:t>，然后用</a:t>
            </a:r>
            <a:r>
              <a:rPr lang="en-US" altLang="zh-CN"/>
              <a:t> ImageDraw </a:t>
            </a:r>
            <a:r>
              <a:rPr lang="zh-CN" altLang="en-US"/>
              <a:t>在图像上绘制</a:t>
            </a:r>
            <a:r>
              <a:rPr lang="en-US" altLang="zh-CN"/>
              <a:t> drop_count </a:t>
            </a:r>
            <a:r>
              <a:rPr lang="zh-CN" altLang="en-US"/>
              <a:t>条雨丝；每条雨丝的起点</a:t>
            </a:r>
            <a:r>
              <a:rPr lang="en-US" altLang="zh-CN"/>
              <a:t> (x,y) </a:t>
            </a:r>
            <a:r>
              <a:rPr lang="zh-CN" altLang="en-US"/>
              <a:t>随机采样，长度由</a:t>
            </a:r>
            <a:r>
              <a:rPr lang="en-US" altLang="zh-CN"/>
              <a:t> length </a:t>
            </a:r>
            <a:r>
              <a:rPr lang="zh-CN" altLang="en-US"/>
              <a:t>控制，方向由</a:t>
            </a:r>
            <a:r>
              <a:rPr lang="en-US" altLang="zh-CN"/>
              <a:t> angle_deg </a:t>
            </a:r>
            <a:r>
              <a:rPr lang="zh-CN" altLang="en-US"/>
              <a:t>决定（通过三角函数计算线段终点偏移</a:t>
            </a:r>
            <a:r>
              <a:rPr lang="en-US" altLang="zh-CN"/>
              <a:t> dx, dy</a:t>
            </a:r>
            <a:r>
              <a:rPr lang="zh-CN" altLang="en-US"/>
              <a:t>），粗细由</a:t>
            </a:r>
            <a:r>
              <a:rPr lang="en-US" altLang="zh-CN"/>
              <a:t> thickness </a:t>
            </a:r>
            <a:r>
              <a:rPr lang="zh-CN" altLang="en-US"/>
              <a:t>控制，亮度和透明度由</a:t>
            </a:r>
            <a:r>
              <a:rPr lang="en-US" altLang="zh-CN"/>
              <a:t> intensity </a:t>
            </a:r>
            <a:r>
              <a:rPr lang="zh-CN" altLang="en-US"/>
              <a:t>映射成</a:t>
            </a:r>
            <a:r>
              <a:rPr lang="en-US" altLang="zh-CN"/>
              <a:t> RGBA alpha </a:t>
            </a:r>
            <a:r>
              <a:rPr lang="zh-CN" altLang="en-US"/>
              <a:t>值。所有雨丝绘制完成后再转回张量并</a:t>
            </a:r>
            <a:r>
              <a:rPr lang="en-US" altLang="zh-CN"/>
              <a:t> clamp </a:t>
            </a:r>
            <a:r>
              <a:rPr lang="zh-CN" altLang="en-US"/>
              <a:t>到</a:t>
            </a:r>
            <a:r>
              <a:rPr lang="en-US" altLang="zh-CN"/>
              <a:t> [0,1]</a:t>
            </a:r>
            <a:r>
              <a:rPr lang="zh-CN" altLang="en-US"/>
              <a:t>。</a:t>
            </a:r>
            <a:endParaRPr lang="zh-CN" altLang="en-US"/>
          </a:p>
          <a:p>
            <a:r>
              <a:rPr lang="zh-CN" altLang="en-US"/>
              <a:t>这种实现相比前两种噪声更接近真实天气退化，它对检测模型的影响主要体现在遮挡和方向性纹理干扰上，尤其会影响边框定位稳定性。</a:t>
            </a:r>
            <a:endParaRPr lang="zh-CN" altLang="en-US"/>
          </a:p>
        </p:txBody>
      </p:sp>
      <p:sp>
        <p:nvSpPr>
          <p:cNvPr id="4" name="标题 3"/>
          <p:cNvSpPr>
            <a:spLocks noGrp="1"/>
          </p:cNvSpPr>
          <p:nvPr>
            <p:ph type="title" idx="1"/>
            <p:custDataLst>
              <p:tags r:id="rId2"/>
            </p:custDataLst>
          </p:nvPr>
        </p:nvSpPr>
        <p:spPr/>
        <p:txBody>
          <a:bodyPr/>
          <a:lstStyle/>
          <a:p>
            <a:r>
              <a:rPr lang="zh-CN" altLang="en-US"/>
              <a:t>雨丝噪声</a:t>
            </a:r>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562610" y="1413510"/>
            <a:ext cx="5622290" cy="4931410"/>
          </a:xfrm>
        </p:spPr>
        <p:txBody>
          <a:bodyPr>
            <a:noAutofit/>
          </a:bodyPr>
          <a:lstStyle/>
          <a:p>
            <a:r>
              <a:rPr lang="zh-CN" altLang="en-US" sz="1200"/>
              <a:t>噪声图像精确率</a:t>
            </a:r>
            <a:r>
              <a:rPr lang="en-US" altLang="zh-CN" sz="1200"/>
              <a:t> 55.48%</a:t>
            </a:r>
            <a:r>
              <a:rPr lang="zh-CN" altLang="en-US" sz="1200"/>
              <a:t>：精确率下降中等，仍保留一定预测能力。</a:t>
            </a:r>
            <a:endParaRPr lang="zh-CN" altLang="en-US" sz="1200"/>
          </a:p>
          <a:p>
            <a:r>
              <a:rPr lang="zh-CN" altLang="en-US" sz="1200"/>
              <a:t>噪声图像召回率</a:t>
            </a:r>
            <a:r>
              <a:rPr lang="en-US" altLang="zh-CN" sz="1200"/>
              <a:t> 63.04%</a:t>
            </a:r>
            <a:r>
              <a:rPr lang="zh-CN" altLang="en-US" sz="1200"/>
              <a:t>：</a:t>
            </a:r>
            <a:r>
              <a:rPr lang="en-US" altLang="zh-CN" sz="1200"/>
              <a:t>63.04% </a:t>
            </a:r>
            <a:r>
              <a:rPr lang="zh-CN" altLang="en-US" sz="1200"/>
              <a:t>目标被检出，为三者中最高，漏检最少。</a:t>
            </a:r>
            <a:endParaRPr lang="zh-CN" altLang="en-US" sz="1200"/>
          </a:p>
          <a:p>
            <a:r>
              <a:rPr lang="zh-CN" altLang="en-US" sz="1200"/>
              <a:t>噪声图像</a:t>
            </a:r>
            <a:r>
              <a:rPr lang="en-US" altLang="zh-CN" sz="1200"/>
              <a:t> F-score 59.01%</a:t>
            </a:r>
            <a:r>
              <a:rPr lang="zh-CN" altLang="en-US" sz="1200"/>
              <a:t>：综合性能最好，检测效果下降最缓和。</a:t>
            </a:r>
            <a:endParaRPr lang="zh-CN" altLang="en-US" sz="1200"/>
          </a:p>
          <a:p>
            <a:r>
              <a:rPr lang="zh-CN" altLang="en-US" sz="1200"/>
              <a:t>噪声图像准确率</a:t>
            </a:r>
            <a:r>
              <a:rPr lang="en-US" altLang="zh-CN" sz="1200"/>
              <a:t> 41.86%</a:t>
            </a:r>
            <a:r>
              <a:rPr lang="zh-CN" altLang="en-US" sz="1200"/>
              <a:t>：全图检测正确率最高，受影响最小。</a:t>
            </a:r>
            <a:endParaRPr lang="zh-CN" altLang="en-US" sz="1200"/>
          </a:p>
          <a:p>
            <a:r>
              <a:rPr lang="en-US" altLang="zh-CN" sz="1200"/>
              <a:t>GT </a:t>
            </a:r>
            <a:r>
              <a:rPr lang="zh-CN" altLang="en-US" sz="1200"/>
              <a:t>级攻击成功率</a:t>
            </a:r>
            <a:r>
              <a:rPr lang="en-US" altLang="zh-CN" sz="1200"/>
              <a:t> 31.06%</a:t>
            </a:r>
            <a:r>
              <a:rPr lang="zh-CN" altLang="en-US" sz="1200"/>
              <a:t>：仅</a:t>
            </a:r>
            <a:r>
              <a:rPr lang="en-US" altLang="zh-CN" sz="1200"/>
              <a:t> 31% </a:t>
            </a:r>
            <a:r>
              <a:rPr lang="zh-CN" altLang="en-US" sz="1200"/>
              <a:t>左右目标失效，干扰能力最弱。</a:t>
            </a:r>
            <a:endParaRPr lang="zh-CN" altLang="en-US" sz="1200"/>
          </a:p>
          <a:p>
            <a:r>
              <a:rPr lang="zh-CN" altLang="en-US" sz="1200"/>
              <a:t>图像级攻击成功率</a:t>
            </a:r>
            <a:r>
              <a:rPr lang="en-US" altLang="zh-CN" sz="1200"/>
              <a:t> 21.53%</a:t>
            </a:r>
            <a:r>
              <a:rPr lang="zh-CN" altLang="en-US" sz="1200"/>
              <a:t>：仅约</a:t>
            </a:r>
            <a:r>
              <a:rPr lang="en-US" altLang="zh-CN" sz="1200"/>
              <a:t> 1/5 </a:t>
            </a:r>
            <a:r>
              <a:rPr lang="zh-CN" altLang="en-US" sz="1200"/>
              <a:t>图片检测失效，影响范围最小。</a:t>
            </a:r>
            <a:endParaRPr lang="zh-CN" altLang="en-US" sz="1200"/>
          </a:p>
          <a:p>
            <a:r>
              <a:rPr lang="en-US" altLang="zh-CN" sz="1200"/>
              <a:t>MSE 0.004219</a:t>
            </a:r>
            <a:r>
              <a:rPr lang="zh-CN" altLang="en-US" sz="1200"/>
              <a:t>：像素失真最小，图像基本保持完整。</a:t>
            </a:r>
            <a:endParaRPr lang="zh-CN" altLang="en-US" sz="1200"/>
          </a:p>
          <a:p>
            <a:r>
              <a:rPr lang="en-US" altLang="zh-CN" sz="1200"/>
              <a:t>SSIM 0.9546</a:t>
            </a:r>
            <a:r>
              <a:rPr lang="zh-CN" altLang="en-US" sz="1200"/>
              <a:t>：结构相似度最高，目标结构几乎未被破坏。</a:t>
            </a:r>
            <a:endParaRPr lang="zh-CN" altLang="en-US" sz="1200"/>
          </a:p>
          <a:p>
            <a:r>
              <a:rPr lang="en-US" altLang="zh-CN" sz="1200"/>
              <a:t>PSNR 24.16dB</a:t>
            </a:r>
            <a:r>
              <a:rPr lang="zh-CN" altLang="en-US" sz="1200"/>
              <a:t>：画质最好，最接近干净图像。</a:t>
            </a:r>
            <a:endParaRPr lang="zh-CN" altLang="en-US" sz="1200"/>
          </a:p>
          <a:p>
            <a:r>
              <a:rPr lang="zh-CN" altLang="en-US" sz="1200"/>
              <a:t>总结：雨丝噪声为轻度线性遮挡，不严重破坏目标结构，因此失真最小、漏检最少、干扰最弱。</a:t>
            </a:r>
            <a:endParaRPr lang="zh-CN" altLang="en-US" sz="1200"/>
          </a:p>
        </p:txBody>
      </p:sp>
      <p:sp>
        <p:nvSpPr>
          <p:cNvPr id="4" name="标题 3"/>
          <p:cNvSpPr>
            <a:spLocks noGrp="1"/>
          </p:cNvSpPr>
          <p:nvPr>
            <p:ph type="title" idx="1"/>
            <p:custDataLst>
              <p:tags r:id="rId2"/>
            </p:custDataLst>
          </p:nvPr>
        </p:nvSpPr>
        <p:spPr/>
        <p:txBody>
          <a:bodyPr/>
          <a:lstStyle/>
          <a:p>
            <a:r>
              <a:rPr lang="zh-CN" altLang="en-US"/>
              <a:t>雨丝噪声</a:t>
            </a:r>
            <a:endParaRPr lang="zh-CN" altLang="en-US"/>
          </a:p>
        </p:txBody>
      </p:sp>
      <p:pic>
        <p:nvPicPr>
          <p:cNvPr id="5" name="图片 4"/>
          <p:cNvPicPr>
            <a:picLocks noChangeAspect="1"/>
          </p:cNvPicPr>
          <p:nvPr/>
        </p:nvPicPr>
        <p:blipFill>
          <a:blip r:embed="rId3"/>
          <a:stretch>
            <a:fillRect/>
          </a:stretch>
        </p:blipFill>
        <p:spPr>
          <a:xfrm>
            <a:off x="6523990" y="1563370"/>
            <a:ext cx="4972050" cy="3879850"/>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en-US" altLang="zh-CN"/>
              <a:t>FGSM </a:t>
            </a:r>
            <a:r>
              <a:rPr lang="zh-CN" altLang="en-US"/>
              <a:t>是一步式白盒攻击，仅计算一次梯度就生成对抗扰动，速度最快、扰动最小。核心思想是直接利用模型梯度沿着</a:t>
            </a:r>
            <a:r>
              <a:rPr lang="en-US" altLang="zh-CN"/>
              <a:t>“</a:t>
            </a:r>
            <a:r>
              <a:rPr lang="zh-CN" altLang="en-US"/>
              <a:t>让检测结果变差</a:t>
            </a:r>
            <a:r>
              <a:rPr lang="en-US" altLang="zh-CN"/>
              <a:t>”</a:t>
            </a:r>
            <a:r>
              <a:rPr lang="zh-CN" altLang="en-US"/>
              <a:t>的方向更新输入图像。但实验中我运用的是多轮次的</a:t>
            </a:r>
            <a:r>
              <a:rPr lang="en-US" altLang="zh-CN"/>
              <a:t>FGSM</a:t>
            </a:r>
            <a:r>
              <a:t>。</a:t>
            </a:r>
            <a:endParaRPr lang="zh-CN" altLang="en-US"/>
          </a:p>
          <a:p>
            <a:r>
              <a:rPr lang="zh-CN" altLang="en-US"/>
              <a:t>先拿一张</a:t>
            </a:r>
            <a:r>
              <a:rPr lang="en-US" altLang="zh-CN"/>
              <a:t> VOC </a:t>
            </a:r>
            <a:r>
              <a:rPr lang="zh-CN" altLang="en-US"/>
              <a:t>图像做正常检测，得到模型当前较高置信度的预测框；然后把这些预测框转换成伪标注目标，作为后续反向传播时的监督信号。</a:t>
            </a:r>
            <a:endParaRPr lang="zh-CN" altLang="en-US"/>
          </a:p>
          <a:p>
            <a:r>
              <a:rPr lang="zh-CN" altLang="en-US"/>
              <a:t>接下来把输入图像设置为可求导变量，模型进入可计算损失的模式，前向得到检测损失（分类项、回归项等组合），再反向把梯度传到输入图像上。得到梯度后，代码按梯度符号方向对图像做一次小步更新，再立刻把更新结果投影回原图附近的扰动范围内，并做像素裁剪，确保图像值合法。</a:t>
            </a:r>
            <a:endParaRPr lang="zh-CN" altLang="en-US"/>
          </a:p>
          <a:p>
            <a:r>
              <a:rPr lang="zh-CN" altLang="en-US"/>
              <a:t>这个步骤会重复多轮，最终得到对抗样本。</a:t>
            </a:r>
            <a:endParaRPr lang="zh-CN" altLang="en-US"/>
          </a:p>
        </p:txBody>
      </p:sp>
      <p:sp>
        <p:nvSpPr>
          <p:cNvPr id="4" name="标题 3"/>
          <p:cNvSpPr>
            <a:spLocks noGrp="1"/>
          </p:cNvSpPr>
          <p:nvPr>
            <p:ph type="title" idx="1"/>
            <p:custDataLst>
              <p:tags r:id="rId2"/>
            </p:custDataLst>
          </p:nvPr>
        </p:nvSpPr>
        <p:spPr/>
        <p:txBody>
          <a:bodyPr/>
          <a:lstStyle/>
          <a:p>
            <a:r>
              <a:rPr lang="en-US" altLang="zh-CN"/>
              <a:t>FGSM</a:t>
            </a:r>
            <a:endParaRPr lang="en-US" altLang="zh-CN"/>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509905" y="1080135"/>
            <a:ext cx="4166870" cy="4931410"/>
          </a:xfrm>
        </p:spPr>
        <p:txBody>
          <a:bodyPr>
            <a:noAutofit/>
          </a:bodyPr>
          <a:lstStyle/>
          <a:p>
            <a:pPr algn="l"/>
            <a:r>
              <a:rPr sz="1200"/>
              <a:t>Adv P=0.34%</a:t>
            </a:r>
            <a:r>
              <a:rPr lang="zh-CN" altLang="en-US" sz="1200"/>
              <a:t>：对抗图像精确率几乎为</a:t>
            </a:r>
            <a:r>
              <a:rPr sz="1200"/>
              <a:t> 0</a:t>
            </a:r>
            <a:endParaRPr sz="1200"/>
          </a:p>
          <a:p>
            <a:pPr algn="l"/>
            <a:r>
              <a:rPr sz="1200"/>
              <a:t>Adv R=4.13%</a:t>
            </a:r>
            <a:r>
              <a:rPr lang="zh-CN" altLang="en-US" sz="1200"/>
              <a:t>：对抗图像召回率几乎为</a:t>
            </a:r>
            <a:r>
              <a:rPr sz="1200"/>
              <a:t> 0</a:t>
            </a:r>
            <a:r>
              <a:rPr lang="zh-CN" altLang="en-US" sz="1200"/>
              <a:t>，漏检极其严重</a:t>
            </a:r>
            <a:endParaRPr lang="zh-CN" altLang="en-US" sz="1200"/>
          </a:p>
          <a:p>
            <a:pPr algn="l"/>
            <a:r>
              <a:rPr sz="1200"/>
              <a:t>Adv F=0.0062</a:t>
            </a:r>
            <a:r>
              <a:rPr lang="zh-CN" altLang="en-US" sz="1200"/>
              <a:t>：检测性能完全失效</a:t>
            </a:r>
            <a:endParaRPr lang="zh-CN" altLang="en-US" sz="1200"/>
          </a:p>
          <a:p>
            <a:pPr algn="l"/>
            <a:r>
              <a:rPr sz="1200"/>
              <a:t>Adv Acc=0.31%</a:t>
            </a:r>
            <a:r>
              <a:rPr lang="zh-CN" altLang="en-US" sz="1200"/>
              <a:t>：检测完全失败</a:t>
            </a:r>
            <a:endParaRPr lang="zh-CN" altLang="en-US" sz="1200"/>
          </a:p>
          <a:p>
            <a:pPr algn="l"/>
            <a:r>
              <a:rPr sz="1200"/>
              <a:t>GT </a:t>
            </a:r>
            <a:r>
              <a:rPr lang="zh-CN" altLang="en-US" sz="1200"/>
              <a:t>攻击成功率</a:t>
            </a:r>
            <a:r>
              <a:rPr sz="1200"/>
              <a:t> 98.88%</a:t>
            </a:r>
            <a:r>
              <a:rPr lang="zh-CN" altLang="en-US" sz="1200"/>
              <a:t>：三者最高，几乎</a:t>
            </a:r>
            <a:r>
              <a:rPr sz="1200"/>
              <a:t> 100% </a:t>
            </a:r>
            <a:r>
              <a:rPr lang="zh-CN" altLang="en-US" sz="1200"/>
              <a:t>破坏目标检测</a:t>
            </a:r>
            <a:endParaRPr lang="zh-CN" altLang="en-US" sz="1200"/>
          </a:p>
          <a:p>
            <a:pPr algn="l"/>
            <a:r>
              <a:rPr lang="zh-CN" altLang="en-US" sz="1200"/>
              <a:t>图像攻击成功率</a:t>
            </a:r>
            <a:r>
              <a:rPr sz="1200"/>
              <a:t> 89.01%</a:t>
            </a:r>
            <a:r>
              <a:rPr lang="zh-CN" altLang="en-US" sz="1200"/>
              <a:t>：近</a:t>
            </a:r>
            <a:r>
              <a:rPr sz="1200"/>
              <a:t> 9 </a:t>
            </a:r>
            <a:r>
              <a:rPr lang="zh-CN" altLang="en-US" sz="1200"/>
              <a:t>成图片完全检测失效，破坏力最强</a:t>
            </a:r>
            <a:endParaRPr lang="zh-CN" altLang="en-US" sz="1200"/>
          </a:p>
          <a:p>
            <a:pPr algn="l"/>
            <a:r>
              <a:rPr sz="1200"/>
              <a:t>L2=9.9414</a:t>
            </a:r>
            <a:r>
              <a:rPr lang="zh-CN" altLang="en-US" sz="1200"/>
              <a:t>：三者中扰动幅度最小</a:t>
            </a:r>
            <a:endParaRPr lang="zh-CN" altLang="en-US" sz="1200"/>
          </a:p>
          <a:p>
            <a:pPr algn="l"/>
            <a:r>
              <a:rPr sz="1200"/>
              <a:t>Linf=0.0500</a:t>
            </a:r>
            <a:r>
              <a:rPr lang="zh-CN" altLang="en-US" sz="1200"/>
              <a:t>：最大像素改动极小</a:t>
            </a:r>
            <a:endParaRPr lang="zh-CN" altLang="en-US" sz="1200"/>
          </a:p>
          <a:p>
            <a:pPr algn="l"/>
            <a:r>
              <a:rPr sz="1200"/>
              <a:t>MSE=0.000185</a:t>
            </a:r>
            <a:r>
              <a:rPr lang="zh-CN" altLang="en-US" sz="1200"/>
              <a:t>：三者中图像失真最低</a:t>
            </a:r>
            <a:endParaRPr lang="zh-CN" altLang="en-US" sz="1200"/>
          </a:p>
          <a:p>
            <a:pPr algn="l"/>
            <a:r>
              <a:rPr sz="1200"/>
              <a:t>SSIM=0.9981</a:t>
            </a:r>
            <a:r>
              <a:rPr lang="zh-CN" altLang="en-US" sz="1200"/>
              <a:t>：图像几乎与原图完全一致</a:t>
            </a:r>
            <a:endParaRPr lang="zh-CN" altLang="en-US" sz="1200"/>
          </a:p>
          <a:p>
            <a:pPr algn="l"/>
            <a:r>
              <a:rPr sz="1200"/>
              <a:t>PSNR=37.45dB</a:t>
            </a:r>
            <a:r>
              <a:rPr lang="zh-CN" altLang="en-US" sz="1200"/>
              <a:t>：画质极高，无法察觉扰动</a:t>
            </a:r>
            <a:endParaRPr lang="zh-CN" altLang="en-US" sz="1200"/>
          </a:p>
          <a:p>
            <a:pPr algn="l"/>
            <a:endParaRPr lang="zh-CN" altLang="en-US" sz="1200"/>
          </a:p>
        </p:txBody>
      </p:sp>
      <p:sp>
        <p:nvSpPr>
          <p:cNvPr id="4" name="标题 3"/>
          <p:cNvSpPr>
            <a:spLocks noGrp="1"/>
          </p:cNvSpPr>
          <p:nvPr>
            <p:ph type="title" idx="1"/>
            <p:custDataLst>
              <p:tags r:id="rId2"/>
            </p:custDataLst>
          </p:nvPr>
        </p:nvSpPr>
        <p:spPr/>
        <p:txBody>
          <a:bodyPr/>
          <a:lstStyle/>
          <a:p>
            <a:r>
              <a:rPr lang="en-US" altLang="zh-CN"/>
              <a:t>FGSM</a:t>
            </a:r>
            <a:endParaRPr lang="en-US" altLang="zh-CN"/>
          </a:p>
        </p:txBody>
      </p:sp>
      <p:pic>
        <p:nvPicPr>
          <p:cNvPr id="3" name="图片 2"/>
          <p:cNvPicPr>
            <a:picLocks noChangeAspect="1"/>
          </p:cNvPicPr>
          <p:nvPr/>
        </p:nvPicPr>
        <p:blipFill>
          <a:blip r:embed="rId3"/>
          <a:stretch>
            <a:fillRect/>
          </a:stretch>
        </p:blipFill>
        <p:spPr>
          <a:xfrm>
            <a:off x="4607560" y="2588260"/>
            <a:ext cx="7188200" cy="2654300"/>
          </a:xfrm>
          <a:prstGeom prst="rect">
            <a:avLst/>
          </a:prstGeom>
        </p:spPr>
      </p:pic>
      <p:sp>
        <p:nvSpPr>
          <p:cNvPr id="5" name="文本框 4"/>
          <p:cNvSpPr txBox="1"/>
          <p:nvPr/>
        </p:nvSpPr>
        <p:spPr>
          <a:xfrm>
            <a:off x="509905" y="6177280"/>
            <a:ext cx="9170670" cy="645160"/>
          </a:xfrm>
          <a:prstGeom prst="rect">
            <a:avLst/>
          </a:prstGeom>
          <a:noFill/>
        </p:spPr>
        <p:txBody>
          <a:bodyPr wrap="square" rtlCol="0">
            <a:spAutoFit/>
          </a:bodyPr>
          <a:p>
            <a:r>
              <a:rPr lang="en-US" altLang="zh-CN">
                <a:sym typeface="+mn-ea"/>
              </a:rPr>
              <a:t>FGSM </a:t>
            </a:r>
            <a:r>
              <a:rPr lang="zh-CN" altLang="en-US">
                <a:sym typeface="+mn-ea"/>
              </a:rPr>
              <a:t>一步生成最小、最隐蔽的扰动，却实现最高攻击成功率，高效且破坏力极强。</a:t>
            </a:r>
            <a:endParaRPr lang="zh-CN" altLang="en-US"/>
          </a:p>
          <a:p>
            <a:endParaRPr lang="zh-CN" altLang="en-US"/>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en-US" altLang="zh-CN"/>
              <a:t>PGD </a:t>
            </a:r>
            <a:r>
              <a:rPr lang="zh-CN" altLang="en-US"/>
              <a:t>是迭代式白盒攻击，通过多次沿梯度上升方向微小更新扰动，逐步最大化模型损失，是最强的基础迭代攻击。它的核心不是一次性大步扰动，而是</a:t>
            </a:r>
            <a:r>
              <a:rPr lang="en-US" altLang="zh-CN"/>
              <a:t>“</a:t>
            </a:r>
            <a:r>
              <a:rPr lang="zh-CN" altLang="en-US"/>
              <a:t>多次小步</a:t>
            </a:r>
            <a:r>
              <a:rPr lang="en-US" altLang="zh-CN"/>
              <a:t> + </a:t>
            </a:r>
            <a:r>
              <a:rPr lang="zh-CN" altLang="en-US"/>
              <a:t>每步约束回投影</a:t>
            </a:r>
            <a:r>
              <a:rPr lang="en-US" altLang="zh-CN"/>
              <a:t>”</a:t>
            </a:r>
            <a:r>
              <a:rPr lang="zh-CN" altLang="en-US"/>
              <a:t>。</a:t>
            </a:r>
            <a:endParaRPr lang="zh-CN" altLang="en-US"/>
          </a:p>
          <a:p>
            <a:r>
              <a:rPr lang="zh-CN" altLang="en-US"/>
              <a:t>先用干净图生成伪目标，使攻击过程针对当前模型真实关注的检测对象。随后进入循环：每一轮都重新计算当前图像的检测损失梯度，然后按步长进行更新。更新完成后，代码做两层保护：第一层把对抗图限制在原图允许扰动范围内（保证不超过</a:t>
            </a:r>
            <a:r>
              <a:rPr lang="en-US" altLang="zh-CN"/>
              <a:t> 5% </a:t>
            </a:r>
            <a:r>
              <a:rPr lang="zh-CN" altLang="en-US"/>
              <a:t>上限），第二层把像素限制在合法区间，避免出现异常值。</a:t>
            </a:r>
            <a:endParaRPr lang="zh-CN" altLang="en-US"/>
          </a:p>
          <a:p>
            <a:r>
              <a:rPr lang="zh-CN" altLang="en-US"/>
              <a:t>因为每一步都重新计算梯度，</a:t>
            </a:r>
            <a:r>
              <a:rPr lang="en-US" altLang="zh-CN"/>
              <a:t>PGD </a:t>
            </a:r>
            <a:r>
              <a:rPr lang="zh-CN" altLang="en-US"/>
              <a:t>会比快速方法更容易持续朝</a:t>
            </a:r>
            <a:r>
              <a:rPr lang="en-US" altLang="zh-CN"/>
              <a:t>“</a:t>
            </a:r>
            <a:r>
              <a:rPr lang="zh-CN" altLang="en-US"/>
              <a:t>破坏检测结果</a:t>
            </a:r>
            <a:r>
              <a:rPr lang="en-US" altLang="zh-CN"/>
              <a:t>”</a:t>
            </a:r>
            <a:r>
              <a:rPr lang="zh-CN" altLang="en-US"/>
              <a:t>的方向推进，通常在相同扰动预算下成功率更高。</a:t>
            </a:r>
            <a:endParaRPr lang="zh-CN" altLang="en-US"/>
          </a:p>
          <a:p>
            <a:r>
              <a:rPr lang="zh-CN" altLang="en-US"/>
              <a:t>和前面多轮次的</a:t>
            </a:r>
            <a:r>
              <a:rPr lang="en-US" altLang="zh-CN"/>
              <a:t>FGSM</a:t>
            </a:r>
            <a:r>
              <a:t>的区别是</a:t>
            </a:r>
            <a:r>
              <a:rPr lang="en-US" altLang="zh-CN"/>
              <a:t>PGD</a:t>
            </a:r>
            <a:r>
              <a:t>每轮是随机起点计算的，而</a:t>
            </a:r>
            <a:r>
              <a:rPr lang="en-US" altLang="zh-CN"/>
              <a:t>FGSM</a:t>
            </a:r>
            <a:r>
              <a:t>是固定起点的，所以</a:t>
            </a:r>
            <a:r>
              <a:rPr lang="en-US" altLang="zh-CN"/>
              <a:t>FGSM</a:t>
            </a:r>
            <a:r>
              <a:t>容易走出相同的攻击路径。</a:t>
            </a:r>
            <a:endParaRPr lang="zh-CN" altLang="en-US"/>
          </a:p>
          <a:p>
            <a:endParaRPr lang="zh-CN" altLang="en-US"/>
          </a:p>
        </p:txBody>
      </p:sp>
      <p:sp>
        <p:nvSpPr>
          <p:cNvPr id="4" name="标题 3"/>
          <p:cNvSpPr>
            <a:spLocks noGrp="1"/>
          </p:cNvSpPr>
          <p:nvPr>
            <p:ph type="title" idx="1"/>
            <p:custDataLst>
              <p:tags r:id="rId2"/>
            </p:custDataLst>
          </p:nvPr>
        </p:nvSpPr>
        <p:spPr/>
        <p:txBody>
          <a:bodyPr/>
          <a:lstStyle/>
          <a:p>
            <a:r>
              <a:rPr lang="en-US" altLang="zh-CN"/>
              <a:t>PGD</a:t>
            </a:r>
            <a:endParaRPr lang="en-US" altLang="zh-CN"/>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509905" y="1080135"/>
            <a:ext cx="6524625" cy="4931410"/>
          </a:xfrm>
        </p:spPr>
        <p:txBody>
          <a:bodyPr>
            <a:noAutofit/>
          </a:bodyPr>
          <a:lstStyle/>
          <a:p>
            <a:pPr algn="l"/>
            <a:r>
              <a:rPr lang="en-US" altLang="zh-CN" sz="1200"/>
              <a:t>Adv P=1.18%</a:t>
            </a:r>
            <a:r>
              <a:rPr lang="zh-CN" altLang="en-US" sz="1200"/>
              <a:t>：对抗图像精确率仅剩</a:t>
            </a:r>
            <a:r>
              <a:rPr lang="en-US" altLang="zh-CN" sz="1200"/>
              <a:t> 1.18%</a:t>
            </a:r>
            <a:r>
              <a:rPr lang="zh-CN" altLang="en-US" sz="1200"/>
              <a:t>，预测几乎全部失效</a:t>
            </a:r>
            <a:endParaRPr lang="zh-CN" altLang="en-US" sz="1200"/>
          </a:p>
          <a:p>
            <a:pPr algn="l"/>
            <a:r>
              <a:rPr lang="en-US" altLang="zh-CN" sz="1200"/>
              <a:t>Adv R=7.87%</a:t>
            </a:r>
            <a:r>
              <a:rPr lang="zh-CN" altLang="en-US" sz="1200"/>
              <a:t>：对抗图像召回率</a:t>
            </a:r>
            <a:r>
              <a:rPr lang="en-US" altLang="zh-CN" sz="1200"/>
              <a:t> 7.87%</a:t>
            </a:r>
            <a:r>
              <a:rPr lang="zh-CN" altLang="en-US" sz="1200"/>
              <a:t>，目标几乎</a:t>
            </a:r>
            <a:r>
              <a:rPr lang="en-US" altLang="zh-CN" sz="1200"/>
              <a:t>                       </a:t>
            </a:r>
            <a:r>
              <a:rPr lang="zh-CN" altLang="en-US" sz="1200"/>
              <a:t>全部漏检</a:t>
            </a:r>
            <a:endParaRPr lang="zh-CN" altLang="en-US" sz="1200"/>
          </a:p>
          <a:p>
            <a:pPr algn="l"/>
            <a:r>
              <a:rPr lang="en-US" altLang="zh-CN" sz="1200"/>
              <a:t>Adv F=0.0206</a:t>
            </a:r>
            <a:r>
              <a:rPr lang="zh-CN" altLang="en-US" sz="1200"/>
              <a:t>：综合检测性能几乎完全崩溃</a:t>
            </a:r>
            <a:endParaRPr lang="zh-CN" altLang="en-US" sz="1200"/>
          </a:p>
          <a:p>
            <a:pPr algn="l"/>
            <a:r>
              <a:rPr lang="en-US" altLang="zh-CN" sz="1200"/>
              <a:t>Adv Acc=1.04%</a:t>
            </a:r>
            <a:r>
              <a:rPr lang="zh-CN" altLang="en-US" sz="1200"/>
              <a:t>：整体检测准确率接近完全失效</a:t>
            </a:r>
            <a:endParaRPr lang="zh-CN" altLang="en-US" sz="1200"/>
          </a:p>
          <a:p>
            <a:pPr algn="l"/>
            <a:r>
              <a:rPr lang="en-US" altLang="zh-CN" sz="1200"/>
              <a:t>GT </a:t>
            </a:r>
            <a:r>
              <a:rPr lang="zh-CN" altLang="en-US" sz="1200"/>
              <a:t>攻击成功率</a:t>
            </a:r>
            <a:r>
              <a:rPr lang="en-US" altLang="zh-CN" sz="1200"/>
              <a:t> 93.00%</a:t>
            </a:r>
            <a:r>
              <a:rPr lang="zh-CN" altLang="en-US" sz="1200"/>
              <a:t>：</a:t>
            </a:r>
            <a:r>
              <a:rPr lang="en-US" altLang="zh-CN" sz="1200"/>
              <a:t>93% </a:t>
            </a:r>
            <a:r>
              <a:rPr lang="zh-CN" altLang="en-US" sz="1200"/>
              <a:t>的真实目标被攻击</a:t>
            </a:r>
            <a:r>
              <a:rPr lang="en-US" altLang="zh-CN" sz="1200"/>
              <a:t>                        </a:t>
            </a:r>
            <a:r>
              <a:rPr lang="zh-CN" altLang="en-US" sz="1200"/>
              <a:t>干扰失效，攻击效果极强</a:t>
            </a:r>
            <a:endParaRPr lang="zh-CN" altLang="en-US" sz="1200"/>
          </a:p>
          <a:p>
            <a:pPr algn="l"/>
            <a:r>
              <a:rPr lang="zh-CN" altLang="en-US" sz="1200"/>
              <a:t>图像攻击成功率</a:t>
            </a:r>
            <a:r>
              <a:rPr lang="en-US" altLang="zh-CN" sz="1200"/>
              <a:t> 79.07%</a:t>
            </a:r>
            <a:r>
              <a:rPr lang="zh-CN" altLang="en-US" sz="1200"/>
              <a:t>：近</a:t>
            </a:r>
            <a:r>
              <a:rPr lang="en-US" altLang="zh-CN" sz="1200"/>
              <a:t> 8 </a:t>
            </a:r>
            <a:r>
              <a:rPr lang="zh-CN" altLang="en-US" sz="1200"/>
              <a:t>成图片检测完全</a:t>
            </a:r>
            <a:r>
              <a:rPr lang="en-US" altLang="zh-CN" sz="1200"/>
              <a:t>                         </a:t>
            </a:r>
            <a:r>
              <a:rPr lang="zh-CN" altLang="en-US" sz="1200"/>
              <a:t>失效</a:t>
            </a:r>
            <a:endParaRPr lang="zh-CN" altLang="en-US" sz="1200"/>
          </a:p>
          <a:p>
            <a:pPr algn="l"/>
            <a:r>
              <a:rPr lang="en-US" altLang="zh-CN" sz="1200"/>
              <a:t>L2=21.0898</a:t>
            </a:r>
            <a:r>
              <a:rPr lang="zh-CN" altLang="en-US" sz="1200"/>
              <a:t>：扰动整体幅度中等</a:t>
            </a:r>
            <a:endParaRPr lang="zh-CN" altLang="en-US" sz="1200"/>
          </a:p>
          <a:p>
            <a:pPr algn="l"/>
            <a:r>
              <a:rPr lang="en-US" altLang="zh-CN" sz="1200"/>
              <a:t>Linf=0.0500</a:t>
            </a:r>
            <a:r>
              <a:rPr lang="zh-CN" altLang="en-US" sz="1200"/>
              <a:t>：最大像素改动限制为</a:t>
            </a:r>
            <a:r>
              <a:rPr lang="en-US" altLang="zh-CN" sz="1200"/>
              <a:t> 0.05</a:t>
            </a:r>
            <a:r>
              <a:rPr lang="zh-CN" altLang="en-US" sz="1200"/>
              <a:t>，扰动非常微小、人眼几乎不可见</a:t>
            </a:r>
            <a:endParaRPr lang="zh-CN" altLang="en-US" sz="1200"/>
          </a:p>
          <a:p>
            <a:pPr algn="l"/>
            <a:r>
              <a:rPr lang="en-US" altLang="zh-CN" sz="1200"/>
              <a:t>MSE=0.000818</a:t>
            </a:r>
            <a:r>
              <a:rPr lang="zh-CN" altLang="en-US" sz="1200"/>
              <a:t>：图像失真极小</a:t>
            </a:r>
            <a:endParaRPr lang="zh-CN" altLang="en-US" sz="1200"/>
          </a:p>
          <a:p>
            <a:pPr algn="l"/>
            <a:r>
              <a:rPr lang="en-US" altLang="zh-CN" sz="1200"/>
              <a:t>SSIM=0.9918</a:t>
            </a:r>
            <a:r>
              <a:rPr lang="zh-CN" altLang="en-US" sz="1200"/>
              <a:t>：图像结构几乎未改变</a:t>
            </a:r>
            <a:endParaRPr lang="zh-CN" altLang="en-US" sz="1200"/>
          </a:p>
          <a:p>
            <a:pPr algn="l"/>
            <a:r>
              <a:rPr lang="en-US" altLang="zh-CN" sz="1200"/>
              <a:t>PSNR=30.88dB</a:t>
            </a:r>
            <a:r>
              <a:rPr lang="zh-CN" altLang="en-US" sz="1200"/>
              <a:t>：画质极高，肉眼无法区分对抗样本</a:t>
            </a:r>
            <a:endParaRPr lang="zh-CN" altLang="en-US" sz="1200"/>
          </a:p>
        </p:txBody>
      </p:sp>
      <p:sp>
        <p:nvSpPr>
          <p:cNvPr id="4" name="标题 3"/>
          <p:cNvSpPr>
            <a:spLocks noGrp="1"/>
          </p:cNvSpPr>
          <p:nvPr>
            <p:ph type="title" idx="1"/>
            <p:custDataLst>
              <p:tags r:id="rId2"/>
            </p:custDataLst>
          </p:nvPr>
        </p:nvSpPr>
        <p:spPr/>
        <p:txBody>
          <a:bodyPr/>
          <a:lstStyle/>
          <a:p>
            <a:r>
              <a:rPr lang="en-US" altLang="zh-CN"/>
              <a:t>PGD</a:t>
            </a:r>
            <a:endParaRPr lang="en-US" altLang="zh-CN"/>
          </a:p>
        </p:txBody>
      </p:sp>
      <p:sp>
        <p:nvSpPr>
          <p:cNvPr id="5" name="文本框 4"/>
          <p:cNvSpPr txBox="1"/>
          <p:nvPr/>
        </p:nvSpPr>
        <p:spPr>
          <a:xfrm>
            <a:off x="581025" y="6073140"/>
            <a:ext cx="9170670" cy="645160"/>
          </a:xfrm>
          <a:prstGeom prst="rect">
            <a:avLst/>
          </a:prstGeom>
          <a:noFill/>
        </p:spPr>
        <p:txBody>
          <a:bodyPr wrap="square" rtlCol="0">
            <a:spAutoFit/>
          </a:bodyPr>
          <a:p>
            <a:r>
              <a:rPr lang="en-US" altLang="zh-CN"/>
              <a:t>PGD </a:t>
            </a:r>
            <a:r>
              <a:rPr lang="zh-CN" altLang="en-US"/>
              <a:t>用极小的不可见扰动实现极强攻击，检测性能近乎完全失效，攻击效果优秀，成功率比</a:t>
            </a:r>
            <a:r>
              <a:rPr lang="en-US" altLang="zh-CN"/>
              <a:t>FGSM</a:t>
            </a:r>
            <a:r>
              <a:rPr lang="zh-CN" altLang="en-US"/>
              <a:t>稍低可能是因为</a:t>
            </a:r>
            <a:r>
              <a:rPr lang="en-US" altLang="zh-CN"/>
              <a:t>step</a:t>
            </a:r>
            <a:r>
              <a:rPr lang="zh-CN" altLang="en-US"/>
              <a:t>轮次设置的较小。</a:t>
            </a:r>
            <a:endParaRPr lang="zh-CN" altLang="en-US"/>
          </a:p>
        </p:txBody>
      </p:sp>
      <p:pic>
        <p:nvPicPr>
          <p:cNvPr id="6" name="图片 5"/>
          <p:cNvPicPr>
            <a:picLocks noChangeAspect="1"/>
          </p:cNvPicPr>
          <p:nvPr/>
        </p:nvPicPr>
        <p:blipFill>
          <a:blip r:embed="rId3"/>
          <a:stretch>
            <a:fillRect/>
          </a:stretch>
        </p:blipFill>
        <p:spPr>
          <a:xfrm>
            <a:off x="4768215" y="1573530"/>
            <a:ext cx="7302500" cy="2838450"/>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en-US" altLang="zh-CN"/>
              <a:t>MI-FGSM </a:t>
            </a:r>
            <a:r>
              <a:rPr lang="zh-CN" altLang="en-US"/>
              <a:t>在迭代攻击中加入</a:t>
            </a:r>
            <a:r>
              <a:rPr lang="en-US" altLang="zh-CN">
                <a:sym typeface="+mn-ea"/>
              </a:rPr>
              <a:t>“</a:t>
            </a:r>
            <a:r>
              <a:rPr>
                <a:sym typeface="+mn-ea"/>
              </a:rPr>
              <a:t>历史梯度记忆</a:t>
            </a:r>
            <a:r>
              <a:rPr lang="en-US" altLang="zh-CN">
                <a:sym typeface="+mn-ea"/>
              </a:rPr>
              <a:t>”</a:t>
            </a:r>
            <a:r>
              <a:rPr>
                <a:sym typeface="+mn-ea"/>
              </a:rPr>
              <a:t>的版本</a:t>
            </a:r>
            <a:r>
              <a:rPr lang="zh-CN" altLang="en-US"/>
              <a:t>，</a:t>
            </a:r>
            <a:r>
              <a:rPr>
                <a:sym typeface="+mn-ea"/>
              </a:rPr>
              <a:t>让更新方向更稳定、减少每轮梯度抖动</a:t>
            </a:r>
            <a:r>
              <a:rPr lang="zh-CN" altLang="en-US"/>
              <a:t>，稳定性优于普通</a:t>
            </a:r>
            <a:r>
              <a:rPr lang="en-US" altLang="zh-CN"/>
              <a:t> PGD</a:t>
            </a:r>
            <a:r>
              <a:rPr lang="zh-CN" altLang="en-US"/>
              <a:t>。</a:t>
            </a:r>
            <a:endParaRPr lang="zh-CN" altLang="en-US"/>
          </a:p>
          <a:p>
            <a:r>
              <a:rPr lang="zh-CN" altLang="en-US"/>
              <a:t>每轮先计算当前输入的梯度，并做归一化处理，避免某一轮梯度幅值过大导致方向失控；然后把本轮梯度与历史累计梯度做融合（动量累积），得到更平滑、更有连续性的更新方向，如此可以让攻击距离更远范围更大；最后按这个累计方向更新图像，再执行扰动范围约束和像素裁剪。</a:t>
            </a:r>
            <a:endParaRPr lang="zh-CN" altLang="en-US"/>
          </a:p>
          <a:p>
            <a:r>
              <a:rPr lang="zh-CN" altLang="en-US"/>
              <a:t>这样做的好处是，当检测场景复杂、目标较多时，攻击不会频繁</a:t>
            </a:r>
            <a:r>
              <a:rPr lang="en-US" altLang="zh-CN"/>
              <a:t>“</a:t>
            </a:r>
            <a:r>
              <a:rPr lang="zh-CN" altLang="en-US"/>
              <a:t>左右摇摆</a:t>
            </a:r>
            <a:r>
              <a:rPr lang="en-US" altLang="zh-CN"/>
              <a:t>”</a:t>
            </a:r>
            <a:r>
              <a:rPr lang="zh-CN" altLang="en-US"/>
              <a:t>，更容易在有限步数内持续压低目标置信度与匹配成功率。</a:t>
            </a:r>
            <a:endParaRPr lang="zh-CN" altLang="en-US"/>
          </a:p>
        </p:txBody>
      </p:sp>
      <p:sp>
        <p:nvSpPr>
          <p:cNvPr id="4" name="标题 3"/>
          <p:cNvSpPr>
            <a:spLocks noGrp="1"/>
          </p:cNvSpPr>
          <p:nvPr>
            <p:ph type="title" idx="1"/>
            <p:custDataLst>
              <p:tags r:id="rId2"/>
            </p:custDataLst>
          </p:nvPr>
        </p:nvSpPr>
        <p:spPr/>
        <p:txBody>
          <a:bodyPr/>
          <a:lstStyle/>
          <a:p>
            <a:r>
              <a:rPr lang="en-US" altLang="zh-CN">
                <a:sym typeface="+mn-ea"/>
              </a:rPr>
              <a:t>MI-FGSM</a:t>
            </a:r>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509905" y="1080135"/>
            <a:ext cx="4485005" cy="4931410"/>
          </a:xfrm>
        </p:spPr>
        <p:txBody>
          <a:bodyPr>
            <a:noAutofit/>
          </a:bodyPr>
          <a:lstStyle/>
          <a:p>
            <a:pPr algn="l"/>
            <a:r>
              <a:rPr lang="en-US" altLang="zh-CN" sz="1200"/>
              <a:t>Adv P=3.94%</a:t>
            </a:r>
            <a:r>
              <a:rPr lang="zh-CN" altLang="en-US" sz="1200"/>
              <a:t>：对抗精确率略高于</a:t>
            </a:r>
            <a:r>
              <a:rPr lang="en-US" altLang="zh-CN" sz="1200"/>
              <a:t> PGD</a:t>
            </a:r>
            <a:r>
              <a:rPr lang="zh-CN" altLang="en-US" sz="1200"/>
              <a:t>、</a:t>
            </a:r>
            <a:r>
              <a:rPr lang="en-US" altLang="zh-CN" sz="1200"/>
              <a:t>FGSM</a:t>
            </a:r>
            <a:r>
              <a:rPr lang="zh-CN" altLang="en-US" sz="1200"/>
              <a:t>，但仍极低</a:t>
            </a:r>
            <a:endParaRPr lang="zh-CN" altLang="en-US" sz="1200"/>
          </a:p>
          <a:p>
            <a:pPr algn="l"/>
            <a:r>
              <a:rPr lang="en-US" altLang="zh-CN" sz="1200"/>
              <a:t>Adv R=19.34%</a:t>
            </a:r>
            <a:r>
              <a:rPr lang="zh-CN" altLang="en-US" sz="1200"/>
              <a:t>：对抗召回率</a:t>
            </a:r>
            <a:r>
              <a:rPr lang="en-US" altLang="zh-CN" sz="1200"/>
              <a:t> 19.34%</a:t>
            </a:r>
            <a:r>
              <a:rPr lang="zh-CN" altLang="en-US" sz="1200"/>
              <a:t>，漏检严重但略好于另外两种</a:t>
            </a:r>
            <a:endParaRPr lang="zh-CN" altLang="en-US" sz="1200"/>
          </a:p>
          <a:p>
            <a:pPr algn="l"/>
            <a:r>
              <a:rPr lang="en-US" altLang="zh-CN" sz="1200"/>
              <a:t>Adv F=0.0654</a:t>
            </a:r>
            <a:r>
              <a:rPr lang="zh-CN" altLang="en-US" sz="1200"/>
              <a:t>：综合性能失效，但相对另外两种稍好</a:t>
            </a:r>
            <a:endParaRPr lang="zh-CN" altLang="en-US" sz="1200"/>
          </a:p>
          <a:p>
            <a:pPr algn="l"/>
            <a:r>
              <a:rPr lang="en-US" altLang="zh-CN" sz="1200"/>
              <a:t>Adv Acc=3.38%</a:t>
            </a:r>
            <a:r>
              <a:rPr lang="zh-CN" altLang="en-US" sz="1200"/>
              <a:t>：检测基本失效</a:t>
            </a:r>
            <a:endParaRPr lang="zh-CN" altLang="en-US" sz="1200"/>
          </a:p>
          <a:p>
            <a:pPr algn="l"/>
            <a:r>
              <a:rPr lang="en-US" altLang="zh-CN" sz="1200"/>
              <a:t>GT </a:t>
            </a:r>
            <a:r>
              <a:rPr lang="zh-CN" altLang="en-US" sz="1200"/>
              <a:t>攻击成功率</a:t>
            </a:r>
            <a:r>
              <a:rPr lang="en-US" altLang="zh-CN" sz="1200"/>
              <a:t> 81.05%</a:t>
            </a:r>
            <a:r>
              <a:rPr lang="zh-CN" altLang="en-US" sz="1200"/>
              <a:t>。攻击效果对比其他两种</a:t>
            </a:r>
            <a:r>
              <a:rPr lang="en-US" altLang="zh-CN" sz="1200"/>
              <a:t>     </a:t>
            </a:r>
            <a:r>
              <a:rPr lang="zh-CN" altLang="en-US" sz="1200"/>
              <a:t>攻击明显较弱</a:t>
            </a:r>
            <a:endParaRPr lang="zh-CN" altLang="en-US" sz="1200"/>
          </a:p>
          <a:p>
            <a:pPr algn="l"/>
            <a:r>
              <a:rPr lang="zh-CN" altLang="en-US" sz="1200"/>
              <a:t>图像攻击成功率</a:t>
            </a:r>
            <a:r>
              <a:rPr lang="en-US" altLang="zh-CN" sz="1200"/>
              <a:t> 63.04%</a:t>
            </a:r>
            <a:r>
              <a:rPr lang="zh-CN" altLang="en-US" sz="1200"/>
              <a:t>：失效图片占比三者最低</a:t>
            </a:r>
            <a:endParaRPr lang="zh-CN" altLang="en-US" sz="1200"/>
          </a:p>
          <a:p>
            <a:pPr algn="l"/>
            <a:r>
              <a:rPr lang="en-US" altLang="zh-CN" sz="1200"/>
              <a:t>L2=18.8973</a:t>
            </a:r>
            <a:r>
              <a:rPr lang="zh-CN" altLang="en-US" sz="1200"/>
              <a:t>：扰动幅度中等</a:t>
            </a:r>
            <a:endParaRPr lang="zh-CN" altLang="en-US" sz="1200"/>
          </a:p>
          <a:p>
            <a:pPr algn="l"/>
            <a:r>
              <a:rPr lang="en-US" altLang="zh-CN" sz="1200"/>
              <a:t>Linf=0.0300</a:t>
            </a:r>
            <a:r>
              <a:rPr lang="zh-CN" altLang="en-US" sz="1200"/>
              <a:t>：最大像素改动最严格（仅</a:t>
            </a:r>
            <a:r>
              <a:rPr lang="en-US" altLang="zh-CN" sz="1200"/>
              <a:t> 0.03</a:t>
            </a:r>
            <a:r>
              <a:rPr lang="zh-CN" altLang="en-US" sz="1200"/>
              <a:t>）</a:t>
            </a:r>
            <a:endParaRPr lang="zh-CN" altLang="en-US" sz="1200"/>
          </a:p>
          <a:p>
            <a:pPr algn="l"/>
            <a:r>
              <a:rPr lang="en-US" altLang="zh-CN" sz="1200"/>
              <a:t>MSE=0.000668</a:t>
            </a:r>
            <a:r>
              <a:rPr lang="zh-CN" altLang="en-US" sz="1200"/>
              <a:t>：失真程度中等</a:t>
            </a:r>
            <a:endParaRPr lang="zh-CN" altLang="en-US" sz="1200"/>
          </a:p>
          <a:p>
            <a:pPr algn="l"/>
            <a:r>
              <a:rPr lang="en-US" altLang="zh-CN" sz="1200"/>
              <a:t>SSIM=0.9930</a:t>
            </a:r>
            <a:r>
              <a:rPr lang="zh-CN" altLang="en-US" sz="1200"/>
              <a:t>：图像结构保持完好</a:t>
            </a:r>
            <a:endParaRPr lang="zh-CN" altLang="en-US" sz="1200"/>
          </a:p>
          <a:p>
            <a:pPr algn="l"/>
            <a:r>
              <a:rPr lang="en-US" altLang="zh-CN" sz="1200"/>
              <a:t>PSNR=31.76dB</a:t>
            </a:r>
            <a:r>
              <a:rPr lang="zh-CN" altLang="en-US" sz="1200"/>
              <a:t>：画质高，扰动不可见</a:t>
            </a:r>
            <a:endParaRPr lang="zh-CN" altLang="en-US" sz="1200"/>
          </a:p>
        </p:txBody>
      </p:sp>
      <p:sp>
        <p:nvSpPr>
          <p:cNvPr id="4" name="标题 3"/>
          <p:cNvSpPr>
            <a:spLocks noGrp="1"/>
          </p:cNvSpPr>
          <p:nvPr>
            <p:ph type="title" idx="1"/>
            <p:custDataLst>
              <p:tags r:id="rId2"/>
            </p:custDataLst>
          </p:nvPr>
        </p:nvSpPr>
        <p:spPr/>
        <p:txBody>
          <a:bodyPr/>
          <a:lstStyle/>
          <a:p>
            <a:r>
              <a:rPr lang="en-US" altLang="zh-CN"/>
              <a:t>MI-FGSM</a:t>
            </a:r>
            <a:endParaRPr lang="en-US" altLang="zh-CN"/>
          </a:p>
        </p:txBody>
      </p:sp>
      <p:sp>
        <p:nvSpPr>
          <p:cNvPr id="5" name="文本框 4"/>
          <p:cNvSpPr txBox="1"/>
          <p:nvPr/>
        </p:nvSpPr>
        <p:spPr>
          <a:xfrm>
            <a:off x="695960" y="6200775"/>
            <a:ext cx="11010265" cy="368300"/>
          </a:xfrm>
          <a:prstGeom prst="rect">
            <a:avLst/>
          </a:prstGeom>
          <a:noFill/>
        </p:spPr>
        <p:txBody>
          <a:bodyPr wrap="square" rtlCol="0">
            <a:spAutoFit/>
          </a:bodyPr>
          <a:p>
            <a:r>
              <a:rPr lang="en-US" altLang="zh-CN"/>
              <a:t>MI-FGSM </a:t>
            </a:r>
            <a:r>
              <a:rPr lang="zh-CN" altLang="en-US"/>
              <a:t>因限制更严格、扰动更小，导致攻击成功率略低，但仍能让模型检测基本失效。</a:t>
            </a:r>
            <a:endParaRPr lang="zh-CN" altLang="en-US"/>
          </a:p>
        </p:txBody>
      </p:sp>
      <p:pic>
        <p:nvPicPr>
          <p:cNvPr id="6" name="图片 5"/>
          <p:cNvPicPr>
            <a:picLocks noChangeAspect="1"/>
          </p:cNvPicPr>
          <p:nvPr/>
        </p:nvPicPr>
        <p:blipFill>
          <a:blip r:embed="rId3"/>
          <a:stretch>
            <a:fillRect/>
          </a:stretch>
        </p:blipFill>
        <p:spPr>
          <a:xfrm>
            <a:off x="4650740" y="2703195"/>
            <a:ext cx="7302500" cy="2679700"/>
          </a:xfrm>
          <a:prstGeom prst="rect">
            <a:avLst/>
          </a:prstGeom>
        </p:spPr>
      </p:pic>
    </p:spTree>
    <p:custDataLst>
      <p:tags r:id="rId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zh-CN" altLang="en-US"/>
              <a:t>通过多组随机方向的攻击来判断应该选择的攻击方向。</a:t>
            </a:r>
            <a:endParaRPr lang="zh-CN" altLang="en-US"/>
          </a:p>
          <a:p>
            <a:r>
              <a:rPr lang="zh-CN" altLang="en-US"/>
              <a:t>代码里</a:t>
            </a:r>
            <a:r>
              <a:rPr lang="en-US" altLang="zh-CN"/>
              <a:t> nes_attack() </a:t>
            </a:r>
            <a:r>
              <a:rPr lang="zh-CN" altLang="en-US"/>
              <a:t>每轮都会生成很多随机方向</a:t>
            </a:r>
            <a:r>
              <a:rPr lang="en-US" altLang="zh-CN"/>
              <a:t> u</a:t>
            </a:r>
            <a:r>
              <a:rPr lang="zh-CN" altLang="en-US"/>
              <a:t>，然后分别试</a:t>
            </a:r>
            <a:r>
              <a:rPr lang="en-US" altLang="zh-CN"/>
              <a:t> x+sigma*u </a:t>
            </a:r>
            <a:r>
              <a:rPr lang="zh-CN" altLang="en-US"/>
              <a:t>和</a:t>
            </a:r>
            <a:r>
              <a:rPr lang="en-US" altLang="zh-CN"/>
              <a:t> x-sigma*u </a:t>
            </a:r>
            <a:r>
              <a:rPr lang="zh-CN" altLang="en-US"/>
              <a:t>两种小改动，把这两次结果差值累积起来，估计</a:t>
            </a:r>
            <a:r>
              <a:rPr lang="en-US" altLang="zh-CN"/>
              <a:t>“</a:t>
            </a:r>
            <a:r>
              <a:rPr lang="zh-CN" altLang="en-US"/>
              <a:t>往哪边改更容易让检测变差</a:t>
            </a:r>
            <a:r>
              <a:rPr lang="en-US" altLang="zh-CN"/>
              <a:t>”</a:t>
            </a:r>
            <a:r>
              <a:rPr lang="zh-CN" altLang="en-US"/>
              <a:t>。这个</a:t>
            </a:r>
            <a:r>
              <a:rPr lang="en-US" altLang="zh-CN"/>
              <a:t>“</a:t>
            </a:r>
            <a:r>
              <a:rPr lang="zh-CN" altLang="en-US"/>
              <a:t>变差</a:t>
            </a:r>
            <a:r>
              <a:rPr lang="en-US" altLang="zh-CN"/>
              <a:t>”</a:t>
            </a:r>
            <a:r>
              <a:rPr lang="zh-CN" altLang="en-US"/>
              <a:t>不是随便定义的，而是写的</a:t>
            </a:r>
            <a:r>
              <a:rPr lang="en-US" altLang="zh-CN"/>
              <a:t> matched_suppression_objective</a:t>
            </a:r>
            <a:r>
              <a:rPr lang="zh-CN" altLang="en-US"/>
              <a:t>：优先压低干净图里那些原本检测到的目标（同类别、</a:t>
            </a:r>
            <a:r>
              <a:rPr lang="en-US" altLang="zh-CN"/>
              <a:t>IoU</a:t>
            </a:r>
            <a:r>
              <a:rPr lang="zh-CN" altLang="en-US"/>
              <a:t>能匹配的目标），所以攻击目标更贴近任务。</a:t>
            </a:r>
            <a:endParaRPr lang="zh-CN" altLang="en-US"/>
          </a:p>
          <a:p>
            <a:r>
              <a:rPr lang="zh-CN" altLang="en-US"/>
              <a:t>估计出方向后，代码再做动量累积（避免方向来回抖）、步长衰减（前面走快，后面走稳），然后更新图像并投影回</a:t>
            </a:r>
            <a:r>
              <a:rPr lang="en-US" altLang="zh-CN"/>
              <a:t> eps </a:t>
            </a:r>
            <a:r>
              <a:rPr lang="zh-CN" altLang="en-US"/>
              <a:t>约束内。</a:t>
            </a:r>
            <a:endParaRPr lang="zh-CN" altLang="en-US"/>
          </a:p>
        </p:txBody>
      </p:sp>
      <p:sp>
        <p:nvSpPr>
          <p:cNvPr id="4" name="标题 3"/>
          <p:cNvSpPr>
            <a:spLocks noGrp="1"/>
          </p:cNvSpPr>
          <p:nvPr>
            <p:ph type="title" idx="1"/>
            <p:custDataLst>
              <p:tags r:id="rId2"/>
            </p:custDataLst>
          </p:nvPr>
        </p:nvSpPr>
        <p:spPr/>
        <p:txBody>
          <a:bodyPr/>
          <a:lstStyle/>
          <a:p>
            <a:r>
              <a:rPr lang="en-US" altLang="zh-CN"/>
              <a:t>NES </a:t>
            </a:r>
            <a:r>
              <a:rPr lang="zh-CN" altLang="en-US"/>
              <a:t>黑盒攻击</a:t>
            </a:r>
            <a:endParaRPr lang="zh-CN"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zh-CN" altLang="en-US"/>
              <a:t>通过针对像素的正负改动确定攻击方向。</a:t>
            </a:r>
            <a:endParaRPr lang="zh-CN" altLang="en-US"/>
          </a:p>
          <a:p>
            <a:r>
              <a:rPr lang="zh-CN" altLang="en-US"/>
              <a:t>在</a:t>
            </a:r>
            <a:r>
              <a:rPr lang="en-US" altLang="zh-CN"/>
              <a:t> spsa_attack() </a:t>
            </a:r>
            <a:r>
              <a:rPr lang="zh-CN" altLang="en-US"/>
              <a:t>里，不再是用</a:t>
            </a:r>
            <a:r>
              <a:rPr lang="en-US" altLang="zh-CN"/>
              <a:t>NES</a:t>
            </a:r>
            <a:r>
              <a:t>那种</a:t>
            </a:r>
            <a:r>
              <a:rPr lang="zh-CN" altLang="en-US"/>
              <a:t>高斯随机方向，而是用</a:t>
            </a:r>
            <a:r>
              <a:rPr lang="en-US" altLang="zh-CN"/>
              <a:t> +1/-1 </a:t>
            </a:r>
            <a:r>
              <a:rPr lang="zh-CN" altLang="en-US"/>
              <a:t>的随机开关向量</a:t>
            </a:r>
            <a:r>
              <a:rPr lang="en-US" altLang="zh-CN"/>
              <a:t> v</a:t>
            </a:r>
            <a:r>
              <a:rPr lang="zh-CN" altLang="en-US"/>
              <a:t>，同样比较</a:t>
            </a:r>
            <a:r>
              <a:rPr lang="en-US" altLang="zh-CN"/>
              <a:t> x+delta*v </a:t>
            </a:r>
            <a:r>
              <a:rPr lang="zh-CN" altLang="en-US"/>
              <a:t>和</a:t>
            </a:r>
            <a:r>
              <a:rPr lang="en-US" altLang="zh-CN"/>
              <a:t> x-delta*v </a:t>
            </a:r>
            <a:r>
              <a:rPr lang="zh-CN" altLang="en-US"/>
              <a:t>的输出差，统计出更新方向。</a:t>
            </a:r>
            <a:endParaRPr lang="zh-CN" altLang="en-US"/>
          </a:p>
          <a:p>
            <a:r>
              <a:rPr lang="zh-CN" altLang="en-US"/>
              <a:t>后面的更新逻辑也一样：归一化、动量、步长衰减、投影、裁剪。它的通俗理解是：</a:t>
            </a:r>
            <a:r>
              <a:rPr lang="en-US" altLang="zh-CN"/>
              <a:t>**</a:t>
            </a:r>
            <a:r>
              <a:rPr lang="zh-CN" altLang="en-US"/>
              <a:t>每一步都做一堆</a:t>
            </a:r>
            <a:r>
              <a:rPr lang="en-US" altLang="zh-CN"/>
              <a:t>“</a:t>
            </a:r>
            <a:r>
              <a:rPr lang="zh-CN" altLang="en-US"/>
              <a:t>加一点</a:t>
            </a:r>
            <a:r>
              <a:rPr lang="en-US" altLang="zh-CN"/>
              <a:t>/</a:t>
            </a:r>
            <a:r>
              <a:rPr lang="zh-CN" altLang="en-US"/>
              <a:t>减一点</a:t>
            </a:r>
            <a:r>
              <a:rPr lang="en-US" altLang="zh-CN"/>
              <a:t>”</a:t>
            </a:r>
            <a:r>
              <a:rPr lang="zh-CN" altLang="en-US"/>
              <a:t>的快速试验，哪种让检测更差就往哪边改。</a:t>
            </a:r>
            <a:endParaRPr lang="zh-CN" altLang="en-US"/>
          </a:p>
        </p:txBody>
      </p:sp>
      <p:sp>
        <p:nvSpPr>
          <p:cNvPr id="4" name="标题 3"/>
          <p:cNvSpPr>
            <a:spLocks noGrp="1"/>
          </p:cNvSpPr>
          <p:nvPr>
            <p:ph type="title" idx="1"/>
            <p:custDataLst>
              <p:tags r:id="rId2"/>
            </p:custDataLst>
          </p:nvPr>
        </p:nvSpPr>
        <p:spPr/>
        <p:txBody>
          <a:bodyPr/>
          <a:lstStyle/>
          <a:p>
            <a:r>
              <a:rPr lang="en-US" altLang="zh-CN"/>
              <a:t>SPSA </a:t>
            </a:r>
            <a:r>
              <a:rPr lang="zh-CN" altLang="en-US"/>
              <a:t>黑盒攻击</a:t>
            </a:r>
            <a:endParaRPr lang="zh-CN"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r>
              <a:rPr lang="zh-CN" altLang="en-US"/>
              <a:t>通过每个</a:t>
            </a:r>
            <a:r>
              <a:rPr lang="en-US" altLang="zh-CN"/>
              <a:t>square</a:t>
            </a:r>
            <a:r>
              <a:t>分区的攻击情况来确定攻击方向。</a:t>
            </a:r>
          </a:p>
          <a:p>
            <a:r>
              <a:rPr lang="zh-CN" altLang="en-US"/>
              <a:t>代码中每一步会在图像上随机选择一个方块区域，对该区域进行正负强度扰动候选，然后比较目标函数是否下降；若候选更优就接受更新，否则丢弃继续搜索。</a:t>
            </a:r>
            <a:endParaRPr lang="zh-CN" altLang="en-US"/>
          </a:p>
          <a:p>
            <a:r>
              <a:rPr lang="zh-CN" altLang="en-US"/>
              <a:t>为了兼顾</a:t>
            </a:r>
            <a:r>
              <a:rPr lang="en-US" altLang="zh-CN"/>
              <a:t> step</a:t>
            </a:r>
            <a:r>
              <a:t>的</a:t>
            </a:r>
            <a:r>
              <a:rPr lang="zh-CN" altLang="en-US"/>
              <a:t>上限和攻击强度，我在每一步里引入了多候选机制（</a:t>
            </a:r>
            <a:r>
              <a:rPr lang="en-US" altLang="zh-CN"/>
              <a:t>n_candidates</a:t>
            </a:r>
            <a:r>
              <a:rPr lang="zh-CN" altLang="en-US"/>
              <a:t>），也就是同一步尝试多个随机方块，选目标函数下降最明显的候选，从而提升单位步的有效性。</a:t>
            </a:r>
            <a:endParaRPr lang="zh-CN" altLang="en-US"/>
          </a:p>
        </p:txBody>
      </p:sp>
      <p:sp>
        <p:nvSpPr>
          <p:cNvPr id="4" name="标题 3"/>
          <p:cNvSpPr>
            <a:spLocks noGrp="1"/>
          </p:cNvSpPr>
          <p:nvPr>
            <p:ph type="title" idx="1"/>
            <p:custDataLst>
              <p:tags r:id="rId2"/>
            </p:custDataLst>
          </p:nvPr>
        </p:nvSpPr>
        <p:spPr/>
        <p:txBody>
          <a:bodyPr/>
          <a:lstStyle/>
          <a:p>
            <a:r>
              <a:rPr lang="en-US" altLang="zh-CN"/>
              <a:t>Square Attack</a:t>
            </a:r>
            <a:endParaRPr lang="en-US" altLang="zh-CN"/>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3"/>
            <p:custDataLst>
              <p:tags r:id="rId1"/>
            </p:custDataLst>
          </p:nvPr>
        </p:nvSpPr>
        <p:spPr>
          <a:xfrm>
            <a:off x="695960" y="1391285"/>
            <a:ext cx="10800080" cy="4931410"/>
          </a:xfrm>
        </p:spPr>
        <p:txBody>
          <a:bodyPr/>
          <a:lstStyle/>
          <a:p>
            <a:pPr marL="0" indent="0">
              <a:buNone/>
            </a:pPr>
            <a:r>
              <a:rPr lang="zh-CN" altLang="en-US"/>
              <a:t>目前黑盒攻击运行得到的最高攻击成功率只有百分之三十。</a:t>
            </a:r>
            <a:endParaRPr lang="zh-CN" altLang="en-US"/>
          </a:p>
          <a:p>
            <a:pPr marL="0" indent="0">
              <a:buNone/>
            </a:pPr>
            <a:r>
              <a:rPr lang="zh-CN" altLang="en-US"/>
              <a:t>最大的问题就是运行速度太慢，运行一次要花一两个小时，如果后面要继续修改代码提高成功率的话应该运行时间还会增加很多。在这么慢的运行速度下我很难进行多次的修改和测评，还在继续尝试提高成功率。</a:t>
            </a:r>
            <a:endParaRPr lang="zh-CN" altLang="en-US"/>
          </a:p>
        </p:txBody>
      </p:sp>
      <p:sp>
        <p:nvSpPr>
          <p:cNvPr id="4" name="标题 3"/>
          <p:cNvSpPr>
            <a:spLocks noGrp="1"/>
          </p:cNvSpPr>
          <p:nvPr>
            <p:ph type="title" idx="1"/>
            <p:custDataLst>
              <p:tags r:id="rId2"/>
            </p:custDataLst>
          </p:nvPr>
        </p:nvSpPr>
        <p:spPr/>
        <p:txBody>
          <a:bodyPr/>
          <a:lstStyle/>
          <a:p>
            <a:r>
              <a:t>黑盒攻击</a:t>
            </a:r>
          </a:p>
        </p:txBody>
      </p:sp>
    </p:spTree>
    <p:custDataLst>
      <p:tags r:id="rId3"/>
    </p:custDataLst>
  </p:cSld>
  <p:clrMapOvr>
    <a:masterClrMapping/>
  </p:clrMapOvr>
</p:sld>
</file>

<file path=ppt/tags/tag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Lst>
</file>

<file path=ppt/tags/tag2.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3.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1*i*4"/>
  <p:tag name="KSO_WM_UNIT_LAYERLEVEL" val="1"/>
  <p:tag name="KSO_WM_TAG_VERSION" val="3.0"/>
</p:tagLst>
</file>

<file path=ppt/tags/tag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8"/>
  <p:tag name="KSO_WM_UNIT_ID" val="_1*i*8"/>
  <p:tag name="KSO_WM_UNIT_LAYERLEVEL" val="1"/>
  <p:tag name="KSO_WM_TAG_VERSION" val="3.0"/>
</p:tagLst>
</file>

<file path=ppt/tags/tag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9"/>
  <p:tag name="KSO_WM_UNIT_ID" val="_1*i*9"/>
  <p:tag name="KSO_WM_UNIT_LAYERLEVEL" val="1"/>
  <p:tag name="KSO_WM_TAG_VERSION" val="3.0"/>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10"/>
  <p:tag name="KSO_WM_UNIT_ID" val="_1*i*10"/>
  <p:tag name="KSO_WM_UNIT_LAYERLEVEL" val="1"/>
  <p:tag name="KSO_WM_TAG_VERSION" val="3.0"/>
</p:tagLst>
</file>

<file path=ppt/tags/tag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12.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19.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25.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9.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30.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CONTENT_GROUP_TYPE" val="contentchip"/>
  <p:tag name="KSO_WM_UNIT_TYPE" val="i"/>
  <p:tag name="KSO_WM_UNIT_INDEX" val="4"/>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34.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TYPE" val="i"/>
  <p:tag name="KSO_WM_UNIT_INDEX" val="1"/>
  <p:tag name="KSO_WM_UNIT_CONTENT_GROUP_TYPE" val="titlestyle"/>
</p:tagLst>
</file>

<file path=ppt/tags/tag4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47.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49.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TYPE" val="i"/>
  <p:tag name="KSO_WM_UNIT_INDEX" val="1"/>
  <p:tag name="KSO_WM_UNIT_CONTENT_GROUP_TYPE" val="titlestyle"/>
</p:tagLst>
</file>

<file path=ppt/tags/tag5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TYPE" val="i"/>
  <p:tag name="KSO_WM_UNIT_INDEX" val="1"/>
  <p:tag name="KSO_WM_UNIT_CONTENT_GROUP_TYPE" val="titlestyle"/>
</p:tagLst>
</file>

<file path=ppt/tags/tag5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UNIT_TYPE" val="i"/>
  <p:tag name="KSO_WM_UNIT_INDEX"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6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UNIT_TYPE" val="i"/>
  <p:tag name="KSO_WM_UNIT_INDEX"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70.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7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76.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77.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CONTENT_GROUP_TYPE" val="contentchip"/>
  <p:tag name="KSO_WM_UNIT_TYPE" val="i"/>
  <p:tag name="KSO_WM_UNIT_INDEX" val="4"/>
</p:tagLst>
</file>

<file path=ppt/tags/tag7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8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CONTENT_GROUP_TYPE" val="contentchip"/>
  <p:tag name="KSO_WM_UNIT_TYPE" val="i"/>
  <p:tag name="KSO_WM_UNIT_INDEX" val="8"/>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CONTENT_GROUP_TYPE" val="contentchip"/>
  <p:tag name="KSO_WM_UNIT_TYPE" val="i"/>
  <p:tag name="KSO_WM_UNIT_INDEX" val="9"/>
</p:tagLst>
</file>

<file path=ppt/tags/tag8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UNIT_CONTENT_GROUP_TYPE" val="contentchip"/>
  <p:tag name="KSO_WM_UNIT_TYPE" val="i"/>
  <p:tag name="KSO_WM_UNIT_INDEX" val="10"/>
</p:tagLst>
</file>

<file path=ppt/tags/tag8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UNIT_TYPE" val="i"/>
  <p:tag name="KSO_WM_UNIT_INDEX" val="11"/>
</p:tagLst>
</file>

<file path=ppt/tags/tag86.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9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9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9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1*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单击添加文档标题"/>
  <p:tag name="KSO_WM_UNIT_TEXT_TYPE" val="1"/>
</p:tagLst>
</file>

<file path=ppt/tags/tag100.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1*f*1"/>
  <p:tag name="KSO_WM_TEMPLATE_CATEGORY" val="custom"/>
  <p:tag name="KSO_WM_TEMPLATE_INDEX" val="20230314"/>
  <p:tag name="KSO_WM_UNIT_LAYERLEVEL" val="1"/>
  <p:tag name="KSO_WM_TAG_VERSION" val="3.0"/>
  <p:tag name="KSO_WM_BEAUTIFY_FLAG" val="#wm#"/>
  <p:tag name="KSO_WM_UNIT_CONTENT_GROUP_TYPE" val="contentchip"/>
</p:tagLst>
</file>

<file path=ppt/tags/tag101.xml><?xml version="1.0" encoding="utf-8"?>
<p:tagLst xmlns:p="http://schemas.openxmlformats.org/presentationml/2006/main">
  <p:tag name="KSO_WM_SLIDE_ID" val="custom2023031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314"/>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173.7&quot;,&quot;top&quot;:&quot;78.5&quot;,&quot;width&quot;:&quot;702.55&quot;,&quot;height&quot;:&quot;350.15&quot;}"/>
</p:tagLst>
</file>

<file path=ppt/tags/tag1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05.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0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08.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1.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4.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1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7.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0.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3.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6.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2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9.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2.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5.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8.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4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41.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44.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4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47.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4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50.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ags/tag1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8*f*1"/>
  <p:tag name="KSO_WM_TEMPLATE_CATEGORY" val="custom"/>
  <p:tag name="KSO_WM_TEMPLATE_INDEX" val="20230314"/>
  <p:tag name="KSO_WM_UNIT_LAYERLEVEL" val="1"/>
  <p:tag name="KSO_WM_TAG_VERSION" val="3.0"/>
  <p:tag name="KSO_WM_BEAUTIFY_FLAG" val="#wm#"/>
  <p:tag name="KSO_WM_UNIT_PRESET_TEXT" val="单击此处添加文本"/>
  <p:tag name="KSO_WM_UNIT_TEXT_TYPE" val="1"/>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8*a*1"/>
  <p:tag name="KSO_WM_TEMPLATE_CATEGORY" val="custom"/>
  <p:tag name="KSO_WM_TEMPLATE_INDEX" val="20230314"/>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53.xml><?xml version="1.0" encoding="utf-8"?>
<p:tagLst xmlns:p="http://schemas.openxmlformats.org/presentationml/2006/main">
  <p:tag name="KSO_WM_SLIDE_ID" val="custom20230314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4"/>
  <p:tag name="KSO_WM_SLIDE_TYPE" val="text"/>
  <p:tag name="KSO_WM_SLIDE_SUBTYPE" val="pureTxt"/>
  <p:tag name="KSO_WM_SLIDE_SIZE" val="850*458"/>
  <p:tag name="KSO_WM_SLIDE_POSITION" val="54*28"/>
  <p:tag name="KSO_WM_SLIDE_LAYOUT" val="a_f"/>
  <p:tag name="KSO_WM_SLIDE_LAYOUT_CNT" val="1_1"/>
  <p:tag name="KSO_WM_SPECIAL_SOURCE" val="bdnull"/>
  <p:tag name="KSO_WM_SLIDE_LAYOUT_NAME" val="标题和内容"/>
</p:tagLst>
</file>

<file path=ppt/theme/theme1.xml><?xml version="1.0" encoding="utf-8"?>
<a:theme xmlns:a="http://schemas.openxmlformats.org/drawingml/2006/main" name="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18">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5222</Words>
  <Application>WPS 演示</Application>
  <PresentationFormat>宽屏</PresentationFormat>
  <Paragraphs>163</Paragraphs>
  <Slides>18</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宋体</vt:lpstr>
      <vt:lpstr>Wingdings</vt:lpstr>
      <vt:lpstr>Wingdings</vt:lpstr>
      <vt:lpstr>微软雅黑</vt:lpstr>
      <vt:lpstr>Arial Unicode MS</vt:lpstr>
      <vt:lpstr>Calibri</vt:lpstr>
      <vt:lpstr>MiSans Normal</vt:lpstr>
      <vt:lpstr>MiSans Heavy</vt:lpstr>
      <vt:lpstr>MiSans Heavy</vt:lpstr>
      <vt:lpstr>Segoe Print</vt:lpstr>
      <vt:lpstr>MiSans Normal</vt:lpstr>
      <vt:lpstr>Office 主题</vt:lpstr>
      <vt:lpstr>单击添加文档标题</vt:lpstr>
      <vt:lpstr>单击此处添加标题</vt:lpstr>
      <vt:lpstr>模型与数据集</vt:lpstr>
      <vt:lpstr>模型与数据集</vt:lpstr>
      <vt:lpstr>高斯噪声</vt:lpstr>
      <vt:lpstr>高斯噪声</vt:lpstr>
      <vt:lpstr>高斯噪声</vt:lpstr>
      <vt:lpstr>高斯噪声</vt:lpstr>
      <vt:lpstr>雨丝噪声</vt:lpstr>
      <vt:lpstr>FGSM</vt:lpstr>
      <vt:lpstr>雨丝噪声</vt:lpstr>
      <vt:lpstr>FGSM</vt:lpstr>
      <vt:lpstr>雨丝噪声</vt:lpstr>
      <vt:lpstr>FGSM</vt:lpstr>
      <vt:lpstr>MI-FGSM</vt:lpstr>
      <vt:lpstr>MI-FGSM</vt:lpstr>
      <vt:lpstr>MI-FGSM</vt:lpstr>
      <vt:lpstr>Square Attack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Lumos</cp:lastModifiedBy>
  <cp:revision>157</cp:revision>
  <dcterms:created xsi:type="dcterms:W3CDTF">2019-06-19T02:08:00Z</dcterms:created>
  <dcterms:modified xsi:type="dcterms:W3CDTF">2026-04-09T16:55:55Z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B3044D07BDD343DBA2047E352022DA2A_11</vt:lpwstr>
  </property>
</Properties>
</file>